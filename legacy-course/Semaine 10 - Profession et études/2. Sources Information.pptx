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92" r:id="rId1"/>
  </p:sldMasterIdLst>
  <p:notesMasterIdLst>
    <p:notesMasterId r:id="rId20"/>
  </p:notesMasterIdLst>
  <p:sldIdLst>
    <p:sldId id="290" r:id="rId2"/>
    <p:sldId id="294" r:id="rId3"/>
    <p:sldId id="305" r:id="rId4"/>
    <p:sldId id="309" r:id="rId5"/>
    <p:sldId id="295" r:id="rId6"/>
    <p:sldId id="306" r:id="rId7"/>
    <p:sldId id="296" r:id="rId8"/>
    <p:sldId id="307" r:id="rId9"/>
    <p:sldId id="308" r:id="rId10"/>
    <p:sldId id="297" r:id="rId11"/>
    <p:sldId id="298" r:id="rId12"/>
    <p:sldId id="299" r:id="rId13"/>
    <p:sldId id="300" r:id="rId14"/>
    <p:sldId id="310" r:id="rId15"/>
    <p:sldId id="301" r:id="rId16"/>
    <p:sldId id="302" r:id="rId17"/>
    <p:sldId id="303" r:id="rId18"/>
    <p:sldId id="304" r:id="rId19"/>
  </p:sldIdLst>
  <p:sldSz cx="9144000" cy="6858000" type="screen4x3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37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1D5280-DEFB-DB2E-784C-82918DD4FC3E}" v="2" dt="2025-03-31T18:41:53.0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0" autoAdjust="0"/>
    <p:restoredTop sz="95332" autoAdjust="0"/>
  </p:normalViewPr>
  <p:slideViewPr>
    <p:cSldViewPr>
      <p:cViewPr varScale="1">
        <p:scale>
          <a:sx n="68" d="100"/>
          <a:sy n="68" d="100"/>
        </p:scale>
        <p:origin x="123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13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Hardy" userId="18c45b91-9529-4376-afee-15439663c977" providerId="ADAL" clId="{45271D93-44AC-4993-85DC-0EBD233B7745}"/>
    <pc:docChg chg="custSel modSld">
      <pc:chgData name="Martin Hardy" userId="18c45b91-9529-4376-afee-15439663c977" providerId="ADAL" clId="{45271D93-44AC-4993-85DC-0EBD233B7745}" dt="2022-11-02T19:01:41.787" v="13" actId="20577"/>
      <pc:docMkLst>
        <pc:docMk/>
      </pc:docMkLst>
      <pc:sldChg chg="modSp mod">
        <pc:chgData name="Martin Hardy" userId="18c45b91-9529-4376-afee-15439663c977" providerId="ADAL" clId="{45271D93-44AC-4993-85DC-0EBD233B7745}" dt="2022-11-02T18:53:42.457" v="3" actId="20577"/>
        <pc:sldMkLst>
          <pc:docMk/>
          <pc:sldMk cId="3340321919" sldId="296"/>
        </pc:sldMkLst>
        <pc:spChg chg="mod">
          <ac:chgData name="Martin Hardy" userId="18c45b91-9529-4376-afee-15439663c977" providerId="ADAL" clId="{45271D93-44AC-4993-85DC-0EBD233B7745}" dt="2022-11-02T18:53:42.457" v="3" actId="20577"/>
          <ac:spMkLst>
            <pc:docMk/>
            <pc:sldMk cId="3340321919" sldId="296"/>
            <ac:spMk id="5" creationId="{00000000-0000-0000-0000-000000000000}"/>
          </ac:spMkLst>
        </pc:spChg>
      </pc:sldChg>
      <pc:sldChg chg="modSp mod">
        <pc:chgData name="Martin Hardy" userId="18c45b91-9529-4376-afee-15439663c977" providerId="ADAL" clId="{45271D93-44AC-4993-85DC-0EBD233B7745}" dt="2022-11-02T18:59:10.248" v="9" actId="20577"/>
        <pc:sldMkLst>
          <pc:docMk/>
          <pc:sldMk cId="1411553317" sldId="301"/>
        </pc:sldMkLst>
        <pc:spChg chg="mod">
          <ac:chgData name="Martin Hardy" userId="18c45b91-9529-4376-afee-15439663c977" providerId="ADAL" clId="{45271D93-44AC-4993-85DC-0EBD233B7745}" dt="2022-11-02T18:59:10.248" v="9" actId="20577"/>
          <ac:spMkLst>
            <pc:docMk/>
            <pc:sldMk cId="1411553317" sldId="301"/>
            <ac:spMk id="5" creationId="{00000000-0000-0000-0000-000000000000}"/>
          </ac:spMkLst>
        </pc:spChg>
      </pc:sldChg>
      <pc:sldChg chg="modSp mod">
        <pc:chgData name="Martin Hardy" userId="18c45b91-9529-4376-afee-15439663c977" providerId="ADAL" clId="{45271D93-44AC-4993-85DC-0EBD233B7745}" dt="2022-11-02T19:01:41.787" v="13" actId="20577"/>
        <pc:sldMkLst>
          <pc:docMk/>
          <pc:sldMk cId="3486695472" sldId="303"/>
        </pc:sldMkLst>
        <pc:spChg chg="mod">
          <ac:chgData name="Martin Hardy" userId="18c45b91-9529-4376-afee-15439663c977" providerId="ADAL" clId="{45271D93-44AC-4993-85DC-0EBD233B7745}" dt="2022-11-02T19:01:41.787" v="13" actId="20577"/>
          <ac:spMkLst>
            <pc:docMk/>
            <pc:sldMk cId="3486695472" sldId="303"/>
            <ac:spMk id="5" creationId="{00000000-0000-0000-0000-000000000000}"/>
          </ac:spMkLst>
        </pc:spChg>
      </pc:sldChg>
      <pc:sldChg chg="modSp mod">
        <pc:chgData name="Martin Hardy" userId="18c45b91-9529-4376-afee-15439663c977" providerId="ADAL" clId="{45271D93-44AC-4993-85DC-0EBD233B7745}" dt="2022-11-02T18:53:14.267" v="2" actId="20577"/>
        <pc:sldMkLst>
          <pc:docMk/>
          <pc:sldMk cId="2695670973" sldId="306"/>
        </pc:sldMkLst>
        <pc:spChg chg="mod">
          <ac:chgData name="Martin Hardy" userId="18c45b91-9529-4376-afee-15439663c977" providerId="ADAL" clId="{45271D93-44AC-4993-85DC-0EBD233B7745}" dt="2022-11-02T18:53:14.267" v="2" actId="20577"/>
          <ac:spMkLst>
            <pc:docMk/>
            <pc:sldMk cId="2695670973" sldId="306"/>
            <ac:spMk id="5" creationId="{3AA7E9BF-DD50-4DFF-9EFB-0BA907C7055F}"/>
          </ac:spMkLst>
        </pc:spChg>
      </pc:sldChg>
      <pc:sldChg chg="modSp mod">
        <pc:chgData name="Martin Hardy" userId="18c45b91-9529-4376-afee-15439663c977" providerId="ADAL" clId="{45271D93-44AC-4993-85DC-0EBD233B7745}" dt="2022-11-02T18:55:06.129" v="6" actId="20577"/>
        <pc:sldMkLst>
          <pc:docMk/>
          <pc:sldMk cId="4058700231" sldId="308"/>
        </pc:sldMkLst>
        <pc:spChg chg="mod">
          <ac:chgData name="Martin Hardy" userId="18c45b91-9529-4376-afee-15439663c977" providerId="ADAL" clId="{45271D93-44AC-4993-85DC-0EBD233B7745}" dt="2022-11-02T18:55:06.129" v="6" actId="20577"/>
          <ac:spMkLst>
            <pc:docMk/>
            <pc:sldMk cId="4058700231" sldId="308"/>
            <ac:spMk id="5" creationId="{0F84A9FA-E39F-415D-8660-1DAA2DB22237}"/>
          </ac:spMkLst>
        </pc:spChg>
      </pc:sldChg>
      <pc:sldChg chg="modSp mod">
        <pc:chgData name="Martin Hardy" userId="18c45b91-9529-4376-afee-15439663c977" providerId="ADAL" clId="{45271D93-44AC-4993-85DC-0EBD233B7745}" dt="2022-10-27T20:42:03.463" v="1" actId="313"/>
        <pc:sldMkLst>
          <pc:docMk/>
          <pc:sldMk cId="550763854" sldId="310"/>
        </pc:sldMkLst>
        <pc:spChg chg="mod">
          <ac:chgData name="Martin Hardy" userId="18c45b91-9529-4376-afee-15439663c977" providerId="ADAL" clId="{45271D93-44AC-4993-85DC-0EBD233B7745}" dt="2022-10-27T20:42:03.463" v="1" actId="313"/>
          <ac:spMkLst>
            <pc:docMk/>
            <pc:sldMk cId="550763854" sldId="310"/>
            <ac:spMk id="5" creationId="{DADFF313-7B20-4BA1-9390-0B0F7E515636}"/>
          </ac:spMkLst>
        </pc:spChg>
      </pc:sldChg>
    </pc:docChg>
  </pc:docChgLst>
  <pc:docChgLst>
    <pc:chgData name="Christopher Coulombe" userId="a998e8d0-2d43-4621-ac06-202b3484f264" providerId="ADAL" clId="{44C6ACFA-AF33-4B62-8F3F-E6B0286B2C86}"/>
    <pc:docChg chg="custSel modSld">
      <pc:chgData name="Christopher Coulombe" userId="a998e8d0-2d43-4621-ac06-202b3484f264" providerId="ADAL" clId="{44C6ACFA-AF33-4B62-8F3F-E6B0286B2C86}" dt="2023-04-16T23:48:59.833" v="0" actId="27636"/>
      <pc:docMkLst>
        <pc:docMk/>
      </pc:docMkLst>
      <pc:sldChg chg="modSp mod">
        <pc:chgData name="Christopher Coulombe" userId="a998e8d0-2d43-4621-ac06-202b3484f264" providerId="ADAL" clId="{44C6ACFA-AF33-4B62-8F3F-E6B0286B2C86}" dt="2023-04-16T23:48:59.833" v="0" actId="27636"/>
        <pc:sldMkLst>
          <pc:docMk/>
          <pc:sldMk cId="550763854" sldId="310"/>
        </pc:sldMkLst>
        <pc:spChg chg="mod">
          <ac:chgData name="Christopher Coulombe" userId="a998e8d0-2d43-4621-ac06-202b3484f264" providerId="ADAL" clId="{44C6ACFA-AF33-4B62-8F3F-E6B0286B2C86}" dt="2023-04-16T23:48:59.833" v="0" actId="27636"/>
          <ac:spMkLst>
            <pc:docMk/>
            <pc:sldMk cId="550763854" sldId="310"/>
            <ac:spMk id="4" creationId="{2895A6AB-AFB2-4A54-A44F-EAB9E0CFA4D1}"/>
          </ac:spMkLst>
        </pc:spChg>
      </pc:sldChg>
    </pc:docChg>
  </pc:docChgLst>
  <pc:docChgLst>
    <pc:chgData name="Christopher Coulombe" userId="S::ccoulombe@cegepgarneau.ca::a998e8d0-2d43-4621-ac06-202b3484f264" providerId="AD" clId="Web-{DB1D5280-DEFB-DB2E-784C-82918DD4FC3E}"/>
    <pc:docChg chg="modSld">
      <pc:chgData name="Christopher Coulombe" userId="S::ccoulombe@cegepgarneau.ca::a998e8d0-2d43-4621-ac06-202b3484f264" providerId="AD" clId="Web-{DB1D5280-DEFB-DB2E-784C-82918DD4FC3E}" dt="2025-03-31T18:41:50.082" v="0" actId="20577"/>
      <pc:docMkLst>
        <pc:docMk/>
      </pc:docMkLst>
      <pc:sldChg chg="modSp">
        <pc:chgData name="Christopher Coulombe" userId="S::ccoulombe@cegepgarneau.ca::a998e8d0-2d43-4621-ac06-202b3484f264" providerId="AD" clId="Web-{DB1D5280-DEFB-DB2E-784C-82918DD4FC3E}" dt="2025-03-31T18:41:50.082" v="0" actId="20577"/>
        <pc:sldMkLst>
          <pc:docMk/>
          <pc:sldMk cId="185817338" sldId="302"/>
        </pc:sldMkLst>
        <pc:spChg chg="mod">
          <ac:chgData name="Christopher Coulombe" userId="S::ccoulombe@cegepgarneau.ca::a998e8d0-2d43-4621-ac06-202b3484f264" providerId="AD" clId="Web-{DB1D5280-DEFB-DB2E-784C-82918DD4FC3E}" dt="2025-03-31T18:41:50.082" v="0" actId="20577"/>
          <ac:spMkLst>
            <pc:docMk/>
            <pc:sldMk cId="185817338" sldId="302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966D0F4-9EE9-47C8-B280-606DB96E0CA0}" type="datetimeFigureOut">
              <a:rPr lang="fr-CA" smtClean="0"/>
              <a:t>2025-03-31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42E2CADF-A918-48A1-83BE-405A36280D49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7160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0D67DC0-4E34-47E3-8296-7E5C3074123D}" type="datetime1">
              <a:rPr lang="fr-FR" smtClean="0"/>
              <a:t>31/03/2025</a:t>
            </a:fld>
            <a:endParaRPr lang="fr-BE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fr-BE"/>
              <a:t>420-136-FX N. Richard</a:t>
            </a: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3EFA-50EA-47E2-81E3-559D81913EEE}" type="datetime1">
              <a:rPr lang="fr-FR" smtClean="0"/>
              <a:t>31/03/2025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C129-ECDC-4837-B0FD-751857EF23DB}" type="datetime1">
              <a:rPr lang="fr-FR" smtClean="0"/>
              <a:t>31/03/2025</a:t>
            </a:fld>
            <a:endParaRPr lang="fr-BE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571E566-DC24-419F-8A1A-425949F7DD6D}" type="datetime1">
              <a:rPr lang="fr-FR" smtClean="0"/>
              <a:t>31/03/2025</a:t>
            </a:fld>
            <a:endParaRPr lang="fr-BE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BE"/>
              <a:t>420-136-FX N. Richard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A469130-1D37-4670-9B50-4B745DF712B2}" type="datetime1">
              <a:rPr lang="fr-FR" smtClean="0"/>
              <a:t>31/03/2025</a:t>
            </a:fld>
            <a:endParaRPr lang="fr-BE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BE"/>
              <a:t>420-136-FX N. Richard</a:t>
            </a:r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FE4A6-FBCB-44F2-BE4C-762EF2C09F32}" type="datetime1">
              <a:rPr lang="fr-FR" smtClean="0"/>
              <a:t>31/03/2025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98AA1-FAA7-46BC-91F1-CC09A7A46772}" type="datetime1">
              <a:rPr lang="fr-FR" smtClean="0"/>
              <a:t>31/03/2025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F69D-3858-42A1-B73E-92125AFC8BF1}" type="datetime1">
              <a:rPr lang="fr-FR" smtClean="0"/>
              <a:t>31/03/2025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8778F407-8926-4A9E-9B35-DEE6EE4052A9}" type="datetime1">
              <a:rPr lang="fr-FR" smtClean="0"/>
              <a:t>31/03/2025</a:t>
            </a:fld>
            <a:endParaRPr lang="fr-BE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fr-BE"/>
              <a:t>420-136-FX N. Richard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/>
              <a:t>Cliquez sur l'icône pour ajouter une image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B32D-98A1-45CE-8FCF-DFAA6E6DA508}" type="datetime1">
              <a:rPr lang="fr-FR" smtClean="0"/>
              <a:t>31/03/2025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23CC2F63-704E-4D40-B0A1-33B6BC661933}" type="datetime1">
              <a:rPr lang="fr-FR" smtClean="0"/>
              <a:t>31/03/2025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C6F6457-122E-45E4-8DD9-91F3B9387889}" type="datetime1">
              <a:rPr lang="fr-FR" smtClean="0"/>
              <a:t>31/03/2025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BE"/>
              <a:t>420-136-FX N. Richard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93" r:id="rId1"/>
    <p:sldLayoutId id="2147484394" r:id="rId2"/>
    <p:sldLayoutId id="2147484395" r:id="rId3"/>
    <p:sldLayoutId id="2147484396" r:id="rId4"/>
    <p:sldLayoutId id="2147484397" r:id="rId5"/>
    <p:sldLayoutId id="2147484398" r:id="rId6"/>
    <p:sldLayoutId id="2147484399" r:id="rId7"/>
    <p:sldLayoutId id="2147484400" r:id="rId8"/>
    <p:sldLayoutId id="2147484401" r:id="rId9"/>
    <p:sldLayoutId id="2147484402" r:id="rId10"/>
    <p:sldLayoutId id="2147484403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inforoutefpt.org/rechProg.aspx?rech=informatiqu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imt.emploiquebec.gouv.qc.ca/mtg/inter/noncache/contenu/asp/mtg221_resultrechr_01.asp?lang=FRAN&amp;Porte=2&amp;PT4=53&amp;cregn=QC&amp;PT1=8&amp;typeform=CLE&amp;PT2=29&amp;motfor=informatique&amp;PT3=10&amp;radsec=univ&amp;rfpg=1" TargetMode="External"/><Relationship Id="rId2" Type="http://schemas.openxmlformats.org/officeDocument/2006/relationships/hyperlink" Target="https://www.inforoutefpt.org/rechProg.aspx?rech=informatiqu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macarrieretechno.com/education-recherche?programs=334&amp;dt=9&amp;pr=" TargetMode="External"/><Relationship Id="rId2" Type="http://schemas.openxmlformats.org/officeDocument/2006/relationships/hyperlink" Target="https://www.inforoutefpt.org/progSecDet.aspx?prog=5229&amp;sanction=5&amp;region=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routefpt.org/progColDet.aspx?prog=531&amp;sanction=1&amp;region=3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egepgarneau.ca/programmes-formations/techniques/techniques-informatique" TargetMode="External"/><Relationship Id="rId4" Type="http://schemas.openxmlformats.org/officeDocument/2006/relationships/hyperlink" Target="http://macarrieretechno.com/education-recherche?programs=&amp;dt=248&amp;pr=304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ft.ulaval.ca/programmes-et-cours/premier-cycle/baccalaureat-en-informatique/" TargetMode="External"/><Relationship Id="rId2" Type="http://schemas.openxmlformats.org/officeDocument/2006/relationships/hyperlink" Target="http://macarrieretechno.com/education-recherche?programs=334&amp;dt=249&amp;pr=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fsg.ulaval.ca/etudes/programmes-detudes/baccalaureat-en-informatique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ft.ulaval.ca/programmes-et-cours/premier-cycle/baccalaureat-en-genie-logiciel/" TargetMode="External"/><Relationship Id="rId2" Type="http://schemas.openxmlformats.org/officeDocument/2006/relationships/hyperlink" Target="http://macarrieretechno.com/education-recherche?programs=334&amp;dt=249&amp;pr=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fsg.ulaval.ca/etudes/programmes-detudes/baccalaureat-en-genie-logiciel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macarrieretechno.com/education-recherche?programs=&amp;dt=279&amp;pr=" TargetMode="External"/><Relationship Id="rId2" Type="http://schemas.openxmlformats.org/officeDocument/2006/relationships/hyperlink" Target="https://www.ift.ulaval.ca/recherche-et-innovation/groupes-de-recherche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www.fsg.ulaval.ca/etudes/programmes-detudes/maitrise-en-informatique/" TargetMode="External"/><Relationship Id="rId4" Type="http://schemas.openxmlformats.org/officeDocument/2006/relationships/hyperlink" Target="https://www.ift.ulaval.ca/programmes-et-cours/deuxieme-et-troisieme-cycles/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udemy.com/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www.pluralsigh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codecademy.com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chondingue.com/#/" TargetMode="External"/><Relationship Id="rId13" Type="http://schemas.openxmlformats.org/officeDocument/2006/relationships/hyperlink" Target="https://www.centraide-quebec.com/" TargetMode="External"/><Relationship Id="rId18" Type="http://schemas.openxmlformats.org/officeDocument/2006/relationships/hyperlink" Target="http://www.education.gouv.qc.ca/accueil/" TargetMode="External"/><Relationship Id="rId3" Type="http://schemas.openxmlformats.org/officeDocument/2006/relationships/hyperlink" Target="https://www.cgi.com/fr" TargetMode="External"/><Relationship Id="rId7" Type="http://schemas.openxmlformats.org/officeDocument/2006/relationships/hyperlink" Target="https://latulippe.com/" TargetMode="External"/><Relationship Id="rId12" Type="http://schemas.openxmlformats.org/officeDocument/2006/relationships/hyperlink" Target="https://laruchequebec.com/" TargetMode="External"/><Relationship Id="rId17" Type="http://schemas.openxmlformats.org/officeDocument/2006/relationships/hyperlink" Target="https://www.ramq.gouv.qc.ca/fr/Pages/accueil.aspx" TargetMode="External"/><Relationship Id="rId2" Type="http://schemas.openxmlformats.org/officeDocument/2006/relationships/hyperlink" Target="https://beenox.com/" TargetMode="External"/><Relationship Id="rId16" Type="http://schemas.openxmlformats.org/officeDocument/2006/relationships/hyperlink" Target="https://www.saq.com/" TargetMode="Externa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imons.ca/fr" TargetMode="External"/><Relationship Id="rId11" Type="http://schemas.openxmlformats.org/officeDocument/2006/relationships/hyperlink" Target="https://www.quebecnumerique.com/" TargetMode="External"/><Relationship Id="rId5" Type="http://schemas.openxmlformats.org/officeDocument/2006/relationships/hyperlink" Target="https://www.mirego.com/fr" TargetMode="External"/><Relationship Id="rId15" Type="http://schemas.openxmlformats.org/officeDocument/2006/relationships/hyperlink" Target="https://www.revenuquebec.ca/fr/" TargetMode="External"/><Relationship Id="rId10" Type="http://schemas.openxmlformats.org/officeDocument/2006/relationships/hyperlink" Target="https://www.feq.ca/" TargetMode="External"/><Relationship Id="rId19" Type="http://schemas.openxmlformats.org/officeDocument/2006/relationships/hyperlink" Target="http://www.assnat.qc.ca/fr/index.html" TargetMode="External"/><Relationship Id="rId4" Type="http://schemas.openxmlformats.org/officeDocument/2006/relationships/hyperlink" Target="https://libeo.com/" TargetMode="External"/><Relationship Id="rId9" Type="http://schemas.openxmlformats.org/officeDocument/2006/relationships/hyperlink" Target="https://www.lacapitale.com/fr" TargetMode="External"/><Relationship Id="rId14" Type="http://schemas.openxmlformats.org/officeDocument/2006/relationships/hyperlink" Target="https://fondationduchudequebec.org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enceswebduquebec.com/agences/liste/quebec" TargetMode="External"/><Relationship Id="rId7" Type="http://schemas.openxmlformats.org/officeDocument/2006/relationships/image" Target="../media/image11.png"/><Relationship Id="rId2" Type="http://schemas.openxmlformats.org/officeDocument/2006/relationships/hyperlink" Target="http://macarrieretechno.com/carrieres/entreprise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hyperlink" Target="https://www.pagesjaunes.ca/locations/Quebec/quebec/80006000.htm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ploisdavenir.gouv.qc.ca/liste-des-emplois/?profil=innovateur" TargetMode="External"/><Relationship Id="rId2" Type="http://schemas.openxmlformats.org/officeDocument/2006/relationships/hyperlink" Target="http://macarrieretechno.com/fr/carrieres/profession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hyperlink" Target="http://imt.emploiquebec.gouv.qc.ca/mtg/inter/noncache/contenu/asp/mtg121_resultrechr_01.asp?lang=FRAN&amp;Porte=1&amp;PT4=53&amp;cregn=QC&amp;PT1=8&amp;PT2=29&amp;typeform=CLE&amp;PT3=10&amp;motfor=informatique&amp;radsec=univ&amp;cregncmp1=QC&amp;type=07&amp;ssai=0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veo.com/fr/compagnie/carrieres" TargetMode="External"/><Relationship Id="rId13" Type="http://schemas.openxmlformats.org/officeDocument/2006/relationships/hyperlink" Target="https://leonardagenceweb.com/carrieres/" TargetMode="External"/><Relationship Id="rId3" Type="http://schemas.openxmlformats.org/officeDocument/2006/relationships/hyperlink" Target="http://placement.emploiquebec.gouv.qc.ca/mbe/ut/rechroffr/erechroffr.asp?CL=french" TargetMode="External"/><Relationship Id="rId7" Type="http://schemas.openxmlformats.org/officeDocument/2006/relationships/hyperlink" Target="https://www.revenuquebec.ca/fr/emplois/" TargetMode="External"/><Relationship Id="rId12" Type="http://schemas.openxmlformats.org/officeDocument/2006/relationships/hyperlink" Target="https://carrieres.libeo.com/" TargetMode="External"/><Relationship Id="rId2" Type="http://schemas.openxmlformats.org/officeDocument/2006/relationships/hyperlink" Target="https://www.carrieres.gouv.qc.ca/choisir-la-fonction-publique/domaines-demplois/technologies-de-linformation/?no_cache=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gi.com/fr/carrieres" TargetMode="External"/><Relationship Id="rId11" Type="http://schemas.openxmlformats.org/officeDocument/2006/relationships/hyperlink" Target="https://www.desjardins.com/a-propos/carrieres/index.jsp" TargetMode="External"/><Relationship Id="rId5" Type="http://schemas.openxmlformats.org/officeDocument/2006/relationships/hyperlink" Target="https://ia.ca/emploi" TargetMode="External"/><Relationship Id="rId10" Type="http://schemas.openxmlformats.org/officeDocument/2006/relationships/hyperlink" Target="https://www.lacapitale.com/fr/emplois" TargetMode="External"/><Relationship Id="rId4" Type="http://schemas.openxmlformats.org/officeDocument/2006/relationships/hyperlink" Target="https://espresso-jobs.com/" TargetMode="External"/><Relationship Id="rId9" Type="http://schemas.openxmlformats.org/officeDocument/2006/relationships/hyperlink" Target="https://www.dialoginsight.com/carrieres-chez-dialog-insight/" TargetMode="External"/><Relationship Id="rId1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>
          <a:xfrm>
            <a:off x="1371600" y="3212976"/>
            <a:ext cx="7772400" cy="915417"/>
          </a:xfrm>
        </p:spPr>
        <p:txBody>
          <a:bodyPr>
            <a:noAutofit/>
          </a:bodyPr>
          <a:lstStyle/>
          <a:p>
            <a:r>
              <a:rPr lang="fr-CA" sz="4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 sur la formation, les professions et les milieux de travail</a:t>
            </a:r>
            <a:endParaRPr lang="fr-CA" sz="4400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CA" sz="3600" dirty="0"/>
              <a:t>420-06A-FX </a:t>
            </a:r>
            <a:br>
              <a:rPr lang="fr-CA" sz="3600" dirty="0"/>
            </a:br>
            <a:r>
              <a:rPr lang="fr-CA" sz="3600" dirty="0"/>
              <a:t>Milieu de l’informatique</a:t>
            </a:r>
          </a:p>
        </p:txBody>
      </p:sp>
      <p:pic>
        <p:nvPicPr>
          <p:cNvPr id="4" name="Picture 2" descr="http://deptinfo.cegepgarneau.ca/sectionDepartement/images/logoDeptInf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5294861"/>
            <a:ext cx="3528392" cy="144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00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0"/>
    </mc:Choice>
    <mc:Fallback xmlns="">
      <p:transition spd="slow" advTm="11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Programmes de formation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67864" cy="5213176"/>
          </a:xfrm>
        </p:spPr>
        <p:txBody>
          <a:bodyPr>
            <a:normAutofit/>
          </a:bodyPr>
          <a:lstStyle/>
          <a:p>
            <a:r>
              <a:rPr lang="fr-CA" sz="2200" dirty="0"/>
              <a:t>Il existe des programmes de formation en informatique, reconnus par le Min. de l’éducation, dans plusieurs niveaux d’études:</a:t>
            </a:r>
          </a:p>
          <a:p>
            <a:pPr lvl="1"/>
            <a:r>
              <a:rPr lang="fr-CA" sz="1900" dirty="0"/>
              <a:t>DEP (Diplôme d’études professionnelles)</a:t>
            </a:r>
          </a:p>
          <a:p>
            <a:pPr lvl="1"/>
            <a:r>
              <a:rPr lang="fr-CA" sz="1900" dirty="0"/>
              <a:t>DEC (Diplôme d’études collégiales)</a:t>
            </a:r>
          </a:p>
          <a:p>
            <a:pPr lvl="1"/>
            <a:r>
              <a:rPr lang="fr-CA" sz="2100" dirty="0"/>
              <a:t>AEC</a:t>
            </a:r>
          </a:p>
          <a:p>
            <a:pPr lvl="1"/>
            <a:r>
              <a:rPr lang="fr-CA" sz="2100" dirty="0"/>
              <a:t>Microprogramme / programme court</a:t>
            </a:r>
          </a:p>
          <a:p>
            <a:pPr lvl="1"/>
            <a:r>
              <a:rPr lang="fr-CA" sz="1900" dirty="0"/>
              <a:t>Baccalauréat</a:t>
            </a:r>
          </a:p>
          <a:p>
            <a:pPr lvl="1"/>
            <a:r>
              <a:rPr lang="fr-CA" sz="2000" dirty="0"/>
              <a:t>DESS</a:t>
            </a:r>
            <a:endParaRPr lang="fr-CA" sz="1900" dirty="0"/>
          </a:p>
          <a:p>
            <a:pPr lvl="1"/>
            <a:r>
              <a:rPr lang="fr-CA" sz="1900" dirty="0"/>
              <a:t>Maîtrise</a:t>
            </a:r>
          </a:p>
          <a:p>
            <a:pPr lvl="1"/>
            <a:r>
              <a:rPr lang="fr-CA" sz="1900" dirty="0"/>
              <a:t>Doctorat</a:t>
            </a:r>
          </a:p>
          <a:p>
            <a:pPr lvl="1"/>
            <a:r>
              <a:rPr lang="fr-CA" sz="1900" dirty="0"/>
              <a:t>Postdoctorat</a:t>
            </a:r>
          </a:p>
          <a:p>
            <a:pPr lvl="1"/>
            <a:endParaRPr lang="fr-CA" sz="2200" dirty="0">
              <a:hlinkClick r:id="rId2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3"/>
          <a:srcRect r="12259"/>
          <a:stretch/>
        </p:blipFill>
        <p:spPr>
          <a:xfrm>
            <a:off x="7308304" y="0"/>
            <a:ext cx="1800200" cy="127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28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AB945-5793-4960-BF3B-BF922A0F1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Liens</a:t>
            </a:r>
            <a:endParaRPr lang="fr-CA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79906B4-5B3E-4A7A-92E5-A2162575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CC5448-9AC9-4615-8FC5-D5D6C4BC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F4668DC-857F-487D-BFFA-8C0CA5037977}" type="slidenum">
              <a:rPr lang="fr-BE" smtClean="0"/>
              <a:pPr/>
              <a:t>3</a:t>
            </a:fld>
            <a:endParaRPr lang="fr-BE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9DBD911-168D-4B1E-A941-C59441026B1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sz="3200" dirty="0">
                <a:hlinkClick r:id="rId2"/>
              </a:rPr>
              <a:t>inforouteFPT.org</a:t>
            </a:r>
            <a:r>
              <a:rPr lang="fr-CA" sz="3200" dirty="0"/>
              <a:t>: Niveaux secondaire et collégial </a:t>
            </a:r>
          </a:p>
          <a:p>
            <a:r>
              <a:rPr lang="fr-CA" sz="2800" dirty="0">
                <a:hlinkClick r:id="rId3"/>
              </a:rPr>
              <a:t>IMT-Programmes de formation</a:t>
            </a:r>
            <a:r>
              <a:rPr lang="fr-CA" sz="2800" dirty="0"/>
              <a:t>: Niveau universitaire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05721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8D5B24-465C-4B22-9CAC-3A4BED033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Aucune formation?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83D48AD-C300-44DB-8766-A67AB1CA8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D01D19-A295-4731-A478-2CCF2240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F4668DC-857F-487D-BFFA-8C0CA5037977}" type="slidenum">
              <a:rPr lang="fr-BE" smtClean="0"/>
              <a:pPr/>
              <a:t>4</a:t>
            </a:fld>
            <a:endParaRPr lang="fr-BE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A0D5F62-49AF-41C1-89FF-8B3D25D5B46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/>
              <a:t>Possible, mais prendra beaucoup d’efforts et risque de causer des problèmes à certains points de votre carrière.</a:t>
            </a:r>
          </a:p>
        </p:txBody>
      </p:sp>
    </p:spTree>
    <p:extLst>
      <p:ext uri="{BB962C8B-B14F-4D97-AF65-F5344CB8AC3E}">
        <p14:creationId xmlns:p14="http://schemas.microsoft.com/office/powerpoint/2010/main" val="4000767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DEP - Soutien informatique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5213176"/>
          </a:xfrm>
        </p:spPr>
        <p:txBody>
          <a:bodyPr>
            <a:normAutofit lnSpcReduction="10000"/>
          </a:bodyPr>
          <a:lstStyle/>
          <a:p>
            <a:r>
              <a:rPr lang="fr-CA" sz="2300" dirty="0"/>
              <a:t>La personne diplômée en </a:t>
            </a:r>
            <a:r>
              <a:rPr lang="fr-CA" sz="2300" b="1" dirty="0"/>
              <a:t>soutien informatique </a:t>
            </a:r>
            <a:r>
              <a:rPr lang="fr-CA" sz="2300" dirty="0"/>
              <a:t>effectuera des travaux techniques comme </a:t>
            </a:r>
          </a:p>
          <a:p>
            <a:pPr lvl="1"/>
            <a:r>
              <a:rPr lang="fr-CA" sz="2000" dirty="0"/>
              <a:t>L’assemblage et la réparation d’ordinateurs </a:t>
            </a:r>
          </a:p>
          <a:p>
            <a:pPr lvl="1"/>
            <a:r>
              <a:rPr lang="fr-CA" sz="2000" dirty="0"/>
              <a:t>L’installation de logiciels sur un réseau informatique ou sur un poste autonome</a:t>
            </a:r>
          </a:p>
          <a:p>
            <a:pPr lvl="1"/>
            <a:r>
              <a:rPr lang="fr-CA" sz="2000" dirty="0"/>
              <a:t>Le service de soutien à la clientèle</a:t>
            </a:r>
          </a:p>
          <a:p>
            <a:r>
              <a:rPr lang="fr-CA" sz="2200" dirty="0"/>
              <a:t>Ce diplôme mènera à des emplois comme</a:t>
            </a:r>
          </a:p>
          <a:p>
            <a:pPr lvl="1"/>
            <a:r>
              <a:rPr lang="fr-CA" sz="2100" dirty="0"/>
              <a:t>administrateur réseau</a:t>
            </a:r>
          </a:p>
          <a:p>
            <a:pPr lvl="1"/>
            <a:r>
              <a:rPr lang="fr-CA" sz="2100" dirty="0"/>
              <a:t>agent de soutien aux utilisateurs</a:t>
            </a:r>
          </a:p>
          <a:p>
            <a:pPr lvl="1"/>
            <a:r>
              <a:rPr lang="fr-CA" sz="2100" dirty="0"/>
              <a:t>installateur de matériel informatique</a:t>
            </a:r>
          </a:p>
          <a:p>
            <a:pPr lvl="1"/>
            <a:r>
              <a:rPr lang="fr-CA" sz="2100" dirty="0"/>
              <a:t>réparateur de matériel informatique</a:t>
            </a:r>
          </a:p>
          <a:p>
            <a:pPr lvl="1"/>
            <a:r>
              <a:rPr lang="fr-CA" sz="2100" dirty="0"/>
              <a:t>technicien de réseau informatique</a:t>
            </a:r>
          </a:p>
          <a:p>
            <a:pPr lvl="1"/>
            <a:r>
              <a:rPr lang="fr-CA" sz="2100" dirty="0"/>
              <a:t>technicien en entretien et en réparation de matériel informatique</a:t>
            </a:r>
          </a:p>
          <a:p>
            <a:r>
              <a:rPr lang="fr-CA" sz="2200" dirty="0">
                <a:hlinkClick r:id="rId2"/>
              </a:rPr>
              <a:t>inforouteFPT.org</a:t>
            </a:r>
            <a:r>
              <a:rPr lang="fr-CA" sz="2200" dirty="0"/>
              <a:t>, </a:t>
            </a:r>
            <a:r>
              <a:rPr lang="fr-CA" sz="2200" dirty="0">
                <a:hlinkClick r:id="rId3"/>
              </a:rPr>
              <a:t>macarrieretechno.com</a:t>
            </a:r>
            <a:r>
              <a:rPr lang="fr-CA" sz="2200" dirty="0"/>
              <a:t> : Soutien informatique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4"/>
          <a:srcRect r="12259"/>
          <a:stretch/>
        </p:blipFill>
        <p:spPr>
          <a:xfrm>
            <a:off x="7308304" y="0"/>
            <a:ext cx="1800200" cy="127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23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7E001F-A065-484F-8CE1-09B4F62F7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Cas </a:t>
            </a:r>
            <a:r>
              <a:rPr lang="en-CA" dirty="0" err="1"/>
              <a:t>réel</a:t>
            </a:r>
            <a:endParaRPr lang="fr-CA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1008287-13D3-4847-9F28-F1C736A0A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A4847E-1C26-47DF-A5D7-9E7DDDCD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F4668DC-857F-487D-BFFA-8C0CA5037977}" type="slidenum">
              <a:rPr lang="fr-BE" smtClean="0"/>
              <a:pPr/>
              <a:t>6</a:t>
            </a:fld>
            <a:endParaRPr lang="fr-BE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AA7E9BF-DD50-4DFF-9EFB-0BA907C7055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/>
              <a:t>John a fait son DEP en Soutien informatique.</a:t>
            </a:r>
          </a:p>
          <a:p>
            <a:r>
              <a:rPr lang="en-CA" dirty="0"/>
              <a:t>Il a </a:t>
            </a:r>
            <a:r>
              <a:rPr lang="fr-CA" dirty="0"/>
              <a:t>travaillé</a:t>
            </a:r>
            <a:r>
              <a:rPr lang="en-CA" dirty="0"/>
              <a:t> pendant </a:t>
            </a:r>
            <a:r>
              <a:rPr lang="fr-CA" dirty="0"/>
              <a:t>quelques années dans une entreprise de vente et de service de matériel informatique.</a:t>
            </a:r>
          </a:p>
          <a:p>
            <a:r>
              <a:rPr lang="fr-CA" dirty="0"/>
              <a:t>Il a ensuite travaillé comme analyste technologique responsable de tout ce qui touche les serveurs</a:t>
            </a:r>
          </a:p>
          <a:p>
            <a:r>
              <a:rPr lang="fr-CA" dirty="0"/>
              <a:t>Il travaille maintenant comme coordonnateur en technologie de l’information.</a:t>
            </a:r>
          </a:p>
        </p:txBody>
      </p:sp>
    </p:spTree>
    <p:extLst>
      <p:ext uri="{BB962C8B-B14F-4D97-AF65-F5344CB8AC3E}">
        <p14:creationId xmlns:p14="http://schemas.microsoft.com/office/powerpoint/2010/main" val="2695670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2"/>
          <a:srcRect r="12259"/>
          <a:stretch/>
        </p:blipFill>
        <p:spPr>
          <a:xfrm>
            <a:off x="7308304" y="0"/>
            <a:ext cx="1800200" cy="127871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4000" dirty="0"/>
              <a:t>DEC - Techniques de l’informatique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5213176"/>
          </a:xfrm>
        </p:spPr>
        <p:txBody>
          <a:bodyPr>
            <a:normAutofit fontScale="92500" lnSpcReduction="10000"/>
          </a:bodyPr>
          <a:lstStyle/>
          <a:p>
            <a:r>
              <a:rPr lang="fr-CA" sz="2300" dirty="0"/>
              <a:t>La personne diplômée en techniques de l’informatique exercera sa profession principalement dans 2 domaines :</a:t>
            </a:r>
          </a:p>
          <a:p>
            <a:pPr lvl="1"/>
            <a:r>
              <a:rPr lang="fr-CA" sz="1900" dirty="0"/>
              <a:t>Le </a:t>
            </a:r>
            <a:r>
              <a:rPr lang="fr-CA" sz="1900" b="1" dirty="0"/>
              <a:t>développement d’applications </a:t>
            </a:r>
            <a:r>
              <a:rPr lang="fr-CA" sz="1900" dirty="0"/>
              <a:t>: conception d’applications fonctionnant sur différentes plateformes, développement et maintenance</a:t>
            </a:r>
          </a:p>
          <a:p>
            <a:pPr lvl="1"/>
            <a:r>
              <a:rPr lang="fr-CA" sz="1900" dirty="0"/>
              <a:t>L’</a:t>
            </a:r>
            <a:r>
              <a:rPr lang="fr-CA" sz="1900" b="1" dirty="0"/>
              <a:t>administration des réseaux informatiques</a:t>
            </a:r>
            <a:r>
              <a:rPr lang="fr-CA" sz="1900" dirty="0"/>
              <a:t>: conception de réseaux, installation, gestion et sécurisation des réseaux, des serveurs et des ordinateurs ainsi que fonctionnement des services Internet et intranet qui y sont liés</a:t>
            </a:r>
          </a:p>
          <a:p>
            <a:r>
              <a:rPr lang="fr-CA" sz="2300" dirty="0"/>
              <a:t>Ce diplôme mènera à des emplois comme</a:t>
            </a:r>
          </a:p>
          <a:p>
            <a:pPr lvl="1"/>
            <a:r>
              <a:rPr lang="fr-CA" sz="1900" dirty="0"/>
              <a:t>administrateur de base de données</a:t>
            </a:r>
          </a:p>
          <a:p>
            <a:pPr lvl="1"/>
            <a:r>
              <a:rPr lang="fr-CA" sz="1900" dirty="0"/>
              <a:t>analyste de base de données</a:t>
            </a:r>
          </a:p>
          <a:p>
            <a:pPr lvl="1"/>
            <a:r>
              <a:rPr lang="fr-CA" sz="1900" dirty="0"/>
              <a:t>administrateur réseau</a:t>
            </a:r>
          </a:p>
          <a:p>
            <a:pPr lvl="1"/>
            <a:r>
              <a:rPr lang="fr-CA" sz="1900" dirty="0"/>
              <a:t>analyste de systèmes</a:t>
            </a:r>
          </a:p>
          <a:p>
            <a:pPr lvl="1"/>
            <a:r>
              <a:rPr lang="fr-CA" sz="1900" dirty="0"/>
              <a:t>analyste en informatique</a:t>
            </a:r>
          </a:p>
          <a:p>
            <a:pPr lvl="1"/>
            <a:r>
              <a:rPr lang="fr-CA" sz="1900" dirty="0"/>
              <a:t>concepteur de sites Web</a:t>
            </a:r>
          </a:p>
          <a:p>
            <a:pPr lvl="1"/>
            <a:r>
              <a:rPr lang="fr-CA" sz="1900" dirty="0"/>
              <a:t>consultant en informatique</a:t>
            </a:r>
          </a:p>
          <a:p>
            <a:r>
              <a:rPr lang="fr-CA" sz="2200" dirty="0">
                <a:hlinkClick r:id="rId3"/>
              </a:rPr>
              <a:t>inforouteFPT.org</a:t>
            </a:r>
            <a:r>
              <a:rPr lang="fr-CA" sz="2200" dirty="0"/>
              <a:t>, </a:t>
            </a:r>
            <a:r>
              <a:rPr lang="fr-CA" sz="2200" dirty="0">
                <a:hlinkClick r:id="rId4"/>
              </a:rPr>
              <a:t>macarrieretechno.com</a:t>
            </a:r>
            <a:r>
              <a:rPr lang="fr-CA" sz="2200" dirty="0"/>
              <a:t>, </a:t>
            </a:r>
            <a:r>
              <a:rPr lang="fr-CA" sz="2200" dirty="0">
                <a:hlinkClick r:id="rId5"/>
              </a:rPr>
              <a:t>à Garneau</a:t>
            </a:r>
            <a:r>
              <a:rPr lang="fr-CA" sz="2200" dirty="0"/>
              <a:t>: </a:t>
            </a:r>
            <a:r>
              <a:rPr lang="fr-CA" sz="2200" dirty="0" err="1"/>
              <a:t>Techn</a:t>
            </a:r>
            <a:r>
              <a:rPr lang="fr-CA" sz="2200" dirty="0"/>
              <a:t>. de l’informatique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4860032" y="3996967"/>
            <a:ext cx="4248472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0080" lvl="1" indent="-274320">
              <a:spcBef>
                <a:spcPts val="550"/>
              </a:spcBef>
              <a:buClr>
                <a:srgbClr val="549E39"/>
              </a:buClr>
              <a:buSzPct val="70000"/>
              <a:buFont typeface="Wingdings 2"/>
              <a:buChar char=""/>
            </a:pPr>
            <a:r>
              <a:rPr lang="fr-CA" dirty="0">
                <a:solidFill>
                  <a:prstClr val="black"/>
                </a:solidFill>
              </a:rPr>
              <a:t>développeur Web</a:t>
            </a:r>
          </a:p>
          <a:p>
            <a:pPr marL="640080" lvl="1" indent="-274320">
              <a:spcBef>
                <a:spcPts val="550"/>
              </a:spcBef>
              <a:buClr>
                <a:srgbClr val="549E39"/>
              </a:buClr>
              <a:buSzPct val="70000"/>
              <a:buFont typeface="Wingdings 2"/>
              <a:buChar char=""/>
            </a:pPr>
            <a:r>
              <a:rPr lang="fr-CA" dirty="0">
                <a:solidFill>
                  <a:prstClr val="black"/>
                </a:solidFill>
              </a:rPr>
              <a:t>programmeur analyste</a:t>
            </a:r>
          </a:p>
          <a:p>
            <a:pPr marL="640080" lvl="1" indent="-274320">
              <a:spcBef>
                <a:spcPts val="550"/>
              </a:spcBef>
              <a:buClr>
                <a:srgbClr val="549E39"/>
              </a:buClr>
              <a:buSzPct val="70000"/>
              <a:buFont typeface="Wingdings 2"/>
              <a:buChar char=""/>
            </a:pPr>
            <a:r>
              <a:rPr lang="fr-CA" dirty="0">
                <a:solidFill>
                  <a:prstClr val="black"/>
                </a:solidFill>
              </a:rPr>
              <a:t>programmeur</a:t>
            </a:r>
          </a:p>
          <a:p>
            <a:pPr marL="640080" lvl="1" indent="-274320">
              <a:spcBef>
                <a:spcPts val="550"/>
              </a:spcBef>
              <a:buClr>
                <a:srgbClr val="549E39"/>
              </a:buClr>
              <a:buSzPct val="70000"/>
              <a:buFont typeface="Wingdings 2"/>
              <a:buChar char=""/>
            </a:pPr>
            <a:r>
              <a:rPr lang="fr-CA" dirty="0">
                <a:solidFill>
                  <a:prstClr val="black"/>
                </a:solidFill>
              </a:rPr>
              <a:t>responsable du soutien technique</a:t>
            </a:r>
          </a:p>
          <a:p>
            <a:pPr marL="640080" lvl="1" indent="-274320">
              <a:spcBef>
                <a:spcPts val="550"/>
              </a:spcBef>
              <a:buClr>
                <a:srgbClr val="549E39"/>
              </a:buClr>
              <a:buSzPct val="70000"/>
              <a:buFont typeface="Wingdings 2"/>
              <a:buChar char=""/>
            </a:pPr>
            <a:r>
              <a:rPr lang="fr-CA" dirty="0">
                <a:solidFill>
                  <a:prstClr val="black"/>
                </a:solidFill>
              </a:rPr>
              <a:t>technicien de réseau informatique</a:t>
            </a:r>
          </a:p>
          <a:p>
            <a:pPr marL="640080" lvl="1" indent="-274320">
              <a:spcBef>
                <a:spcPts val="550"/>
              </a:spcBef>
              <a:buClr>
                <a:srgbClr val="549E39"/>
              </a:buClr>
              <a:buSzPct val="70000"/>
              <a:buFont typeface="Wingdings 2"/>
              <a:buChar char=""/>
            </a:pPr>
            <a:r>
              <a:rPr lang="fr-CA" dirty="0">
                <a:solidFill>
                  <a:prstClr val="black"/>
                </a:solidFill>
              </a:rPr>
              <a:t>testeur de logiciels</a:t>
            </a:r>
          </a:p>
        </p:txBody>
      </p:sp>
    </p:spTree>
    <p:extLst>
      <p:ext uri="{BB962C8B-B14F-4D97-AF65-F5344CB8AC3E}">
        <p14:creationId xmlns:p14="http://schemas.microsoft.com/office/powerpoint/2010/main" val="3340321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AE7952-E6A9-41D1-85C0-349B6501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DEC - Cas réel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DC5E0A6-7B97-4078-9502-8FBBED6FD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18B04E-8E9C-4AAA-845B-1F4E419A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F4668DC-857F-487D-BFFA-8C0CA5037977}" type="slidenum">
              <a:rPr lang="fr-BE" smtClean="0"/>
              <a:pPr/>
              <a:t>8</a:t>
            </a:fld>
            <a:endParaRPr lang="fr-BE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ECAF64A5-91A6-4E1E-91F0-9C2DB00B8F4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Bob a fait sa technique en informatique</a:t>
            </a:r>
          </a:p>
          <a:p>
            <a:r>
              <a:rPr lang="fr-CA" dirty="0"/>
              <a:t>Il a travaillé plusieurs années comme programmeur-analyste dans les ministères.</a:t>
            </a:r>
          </a:p>
          <a:p>
            <a:r>
              <a:rPr lang="fr-CA" dirty="0"/>
              <a:t>Devant la difficulté à gravir les échelons au public, il est aller au privé. </a:t>
            </a:r>
          </a:p>
          <a:p>
            <a:r>
              <a:rPr lang="fr-CA" dirty="0"/>
              <a:t>Il a travaillé plusieurs années comme analyste-programmeur et analyste fonctionnel dans une banque.</a:t>
            </a:r>
          </a:p>
          <a:p>
            <a:r>
              <a:rPr lang="fr-CA" dirty="0"/>
              <a:t>Il est maintenant consultant en architecture fonctionnelle.</a:t>
            </a:r>
          </a:p>
        </p:txBody>
      </p:sp>
    </p:spTree>
    <p:extLst>
      <p:ext uri="{BB962C8B-B14F-4D97-AF65-F5344CB8AC3E}">
        <p14:creationId xmlns:p14="http://schemas.microsoft.com/office/powerpoint/2010/main" val="1942313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896D99-296C-413B-BA11-487D385C7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DEC – Cas réel 2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9EE2C62-E0C0-4075-BDA1-9820AC975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2BA755-C5D5-42EA-BCCC-DA4B7FF90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F4668DC-857F-487D-BFFA-8C0CA5037977}" type="slidenum">
              <a:rPr lang="fr-BE" smtClean="0"/>
              <a:pPr/>
              <a:t>9</a:t>
            </a:fld>
            <a:endParaRPr lang="fr-BE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F84A9FA-E39F-415D-8660-1DAA2DB2223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/>
              <a:t>Laurie a fait son DEC en informatique</a:t>
            </a:r>
          </a:p>
          <a:p>
            <a:r>
              <a:rPr lang="fr-CA" dirty="0"/>
              <a:t>Elle a travaillé quelques années comme programmeuse-analyste dans une entreprise de consultation.</a:t>
            </a:r>
          </a:p>
          <a:p>
            <a:r>
              <a:rPr lang="fr-CA" dirty="0"/>
              <a:t>Elle a ensuite travaillé comme analyste-programmeuse sur la mesure web.</a:t>
            </a:r>
          </a:p>
          <a:p>
            <a:r>
              <a:rPr lang="fr-CA" dirty="0"/>
              <a:t>Elle a ensuite été Scrum master.</a:t>
            </a:r>
          </a:p>
          <a:p>
            <a:r>
              <a:rPr lang="fr-CA" dirty="0"/>
              <a:t>Elle est maintenant coach agile.</a:t>
            </a:r>
          </a:p>
        </p:txBody>
      </p:sp>
    </p:spTree>
    <p:extLst>
      <p:ext uri="{BB962C8B-B14F-4D97-AF65-F5344CB8AC3E}">
        <p14:creationId xmlns:p14="http://schemas.microsoft.com/office/powerpoint/2010/main" val="4058700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Baccalauréat en informatique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5213176"/>
          </a:xfrm>
        </p:spPr>
        <p:txBody>
          <a:bodyPr>
            <a:normAutofit lnSpcReduction="10000"/>
          </a:bodyPr>
          <a:lstStyle/>
          <a:p>
            <a:r>
              <a:rPr lang="fr-CA" sz="2000" dirty="0"/>
              <a:t>Le </a:t>
            </a:r>
            <a:r>
              <a:rPr lang="fr-CA" sz="2000" b="1" dirty="0"/>
              <a:t>bachelier en informatique </a:t>
            </a:r>
            <a:r>
              <a:rPr lang="fr-CA" sz="2000" dirty="0"/>
              <a:t>est un professionnel qui peut travailler dans de nombreux domaines de l’informatique et dans divers secteurs (industriels, scientifiques, gestion, etc.)</a:t>
            </a:r>
          </a:p>
          <a:p>
            <a:pPr lvl="1"/>
            <a:r>
              <a:rPr lang="fr-CA" sz="1800" dirty="0"/>
              <a:t>Il a les aptitudes nécessaires pour analyser des problèmes complexes en vue </a:t>
            </a:r>
            <a:br>
              <a:rPr lang="fr-CA" sz="1800" dirty="0"/>
            </a:br>
            <a:r>
              <a:rPr lang="fr-CA" sz="1800" dirty="0"/>
              <a:t>de formuler une solution informatique adaptée à chacun et pour en assurer l'élaboration et l'implantation</a:t>
            </a:r>
          </a:p>
          <a:p>
            <a:pPr lvl="1"/>
            <a:r>
              <a:rPr lang="fr-CA" sz="1800" dirty="0"/>
              <a:t>Il a les compétences nécessaires pour évaluer les systèmes d'information et pour donner un avis professionnel pertinent</a:t>
            </a:r>
          </a:p>
          <a:p>
            <a:r>
              <a:rPr lang="fr-CA" sz="2000" dirty="0"/>
              <a:t>Ce diplôme mènera à des emplois comme</a:t>
            </a:r>
          </a:p>
          <a:p>
            <a:pPr lvl="1"/>
            <a:r>
              <a:rPr lang="fr-CA" sz="1800" dirty="0"/>
              <a:t>administrateur de données</a:t>
            </a:r>
          </a:p>
          <a:p>
            <a:pPr lvl="1"/>
            <a:r>
              <a:rPr lang="fr-CA" sz="1800" dirty="0"/>
              <a:t>analyste-programmeur</a:t>
            </a:r>
          </a:p>
          <a:p>
            <a:pPr lvl="1"/>
            <a:r>
              <a:rPr lang="fr-CA" sz="1800" dirty="0"/>
              <a:t>analyste en informatique</a:t>
            </a:r>
          </a:p>
          <a:p>
            <a:pPr lvl="1"/>
            <a:r>
              <a:rPr lang="fr-CA" sz="1800" dirty="0"/>
              <a:t>gestionnaire de projets informatiques </a:t>
            </a:r>
          </a:p>
          <a:p>
            <a:pPr lvl="1"/>
            <a:r>
              <a:rPr lang="fr-CA" sz="1800" dirty="0"/>
              <a:t>développeur de logiciels, etc.</a:t>
            </a:r>
          </a:p>
          <a:p>
            <a:r>
              <a:rPr lang="fr-CA" sz="2000" dirty="0">
                <a:hlinkClick r:id="rId2"/>
              </a:rPr>
              <a:t>macarrieretechno.com</a:t>
            </a:r>
            <a:r>
              <a:rPr lang="fr-CA" sz="2000" dirty="0"/>
              <a:t> : </a:t>
            </a:r>
            <a:r>
              <a:rPr lang="fr-CA" sz="2000" dirty="0" err="1"/>
              <a:t>Bacc</a:t>
            </a:r>
            <a:r>
              <a:rPr lang="fr-CA" sz="2000" dirty="0"/>
              <a:t>. en informatique au Québec partout</a:t>
            </a:r>
          </a:p>
          <a:p>
            <a:r>
              <a:rPr lang="fr-CA" sz="2000" dirty="0">
                <a:hlinkClick r:id="rId3"/>
              </a:rPr>
              <a:t>Université Laval</a:t>
            </a:r>
            <a:r>
              <a:rPr lang="fr-CA" sz="2000" dirty="0"/>
              <a:t>, </a:t>
            </a:r>
            <a:r>
              <a:rPr lang="fr-CA" sz="2000" dirty="0">
                <a:hlinkClick r:id="rId4"/>
              </a:rPr>
              <a:t>Faculté des Sc. Et Génie</a:t>
            </a:r>
            <a:r>
              <a:rPr lang="fr-CA" sz="2000" dirty="0"/>
              <a:t> : </a:t>
            </a:r>
            <a:r>
              <a:rPr lang="fr-CA" sz="2000" dirty="0" err="1"/>
              <a:t>Bacc</a:t>
            </a:r>
            <a:r>
              <a:rPr lang="fr-CA" sz="2000" dirty="0"/>
              <a:t>. en informatique </a:t>
            </a:r>
            <a:r>
              <a:rPr lang="fr-CA" sz="2000" dirty="0" err="1"/>
              <a:t>ULaval</a:t>
            </a:r>
            <a:endParaRPr lang="fr-CA" sz="20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5"/>
          <a:srcRect r="12259"/>
          <a:stretch/>
        </p:blipFill>
        <p:spPr>
          <a:xfrm>
            <a:off x="7308304" y="0"/>
            <a:ext cx="1800200" cy="1278713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4644008" y="4197986"/>
            <a:ext cx="4248472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0080" lvl="1" indent="-274320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</a:pPr>
            <a:r>
              <a:rPr lang="fr-CA" dirty="0"/>
              <a:t>analyste de base de données</a:t>
            </a:r>
          </a:p>
          <a:p>
            <a:pPr marL="640080" lvl="1" indent="-274320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</a:pPr>
            <a:r>
              <a:rPr lang="fr-CA" dirty="0"/>
              <a:t>consultant en informatique</a:t>
            </a:r>
          </a:p>
          <a:p>
            <a:pPr marL="640080" lvl="1" indent="-274320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</a:pPr>
            <a:r>
              <a:rPr lang="fr-CA" dirty="0"/>
              <a:t>concepteur Web</a:t>
            </a:r>
          </a:p>
          <a:p>
            <a:pPr marL="640080" lvl="1" indent="-274320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</a:pPr>
            <a:r>
              <a:rPr lang="fr-CA" dirty="0"/>
              <a:t>développeur Web </a:t>
            </a:r>
          </a:p>
        </p:txBody>
      </p:sp>
    </p:spTree>
    <p:extLst>
      <p:ext uri="{BB962C8B-B14F-4D97-AF65-F5344CB8AC3E}">
        <p14:creationId xmlns:p14="http://schemas.microsoft.com/office/powerpoint/2010/main" val="3654150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Baccalauréat en génie logiciel </a:t>
            </a:r>
            <a:br>
              <a:rPr lang="fr-CA" dirty="0"/>
            </a:br>
            <a:r>
              <a:rPr lang="fr-CA" dirty="0"/>
              <a:t>et génie informatique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5213176"/>
          </a:xfrm>
        </p:spPr>
        <p:txBody>
          <a:bodyPr>
            <a:normAutofit/>
          </a:bodyPr>
          <a:lstStyle/>
          <a:p>
            <a:r>
              <a:rPr lang="fr-CA" sz="2000" dirty="0"/>
              <a:t>2 programmes en génie sont liés à l’informatique</a:t>
            </a:r>
          </a:p>
          <a:p>
            <a:pPr lvl="1"/>
            <a:r>
              <a:rPr lang="fr-CA" sz="1800" b="1" dirty="0"/>
              <a:t>Génie logiciel</a:t>
            </a:r>
            <a:r>
              <a:rPr lang="fr-CA" sz="1800" dirty="0"/>
              <a:t>: l’ingénieur en génie logiciel est responsable de la spécification, de </a:t>
            </a:r>
            <a:br>
              <a:rPr lang="fr-CA" sz="1800" dirty="0"/>
            </a:br>
            <a:r>
              <a:rPr lang="fr-CA" sz="1800" dirty="0"/>
              <a:t>la conception, du développement, de la maintenance et de la qualité de logiciels complexes et d'envergure</a:t>
            </a:r>
          </a:p>
          <a:p>
            <a:pPr lvl="1"/>
            <a:r>
              <a:rPr lang="fr-CA" sz="1800" b="1" dirty="0"/>
              <a:t>Génie informatique</a:t>
            </a:r>
            <a:r>
              <a:rPr lang="fr-CA" sz="1800" dirty="0"/>
              <a:t>: l’ingénieur en génie informatique est spécialiste de la conception matérielle et logicielle des dispositifs et des systèmes informatiques</a:t>
            </a:r>
          </a:p>
          <a:p>
            <a:pPr lvl="1"/>
            <a:r>
              <a:rPr lang="fr-CA" sz="1800" dirty="0"/>
              <a:t>Dans les 2 cas, il faut avoir fait les 3 cours de </a:t>
            </a:r>
            <a:r>
              <a:rPr lang="fr-CA" sz="1800" b="1" dirty="0"/>
              <a:t>physique</a:t>
            </a:r>
            <a:r>
              <a:rPr lang="fr-CA" sz="1800" dirty="0"/>
              <a:t> et les 3 cours de </a:t>
            </a:r>
            <a:r>
              <a:rPr lang="fr-CA" sz="1800" b="1" dirty="0"/>
              <a:t>maths</a:t>
            </a:r>
            <a:r>
              <a:rPr lang="fr-CA" sz="1800" dirty="0"/>
              <a:t> du programme de sciences natures, en plus d’un cours de </a:t>
            </a:r>
            <a:r>
              <a:rPr lang="fr-CA" sz="1800" b="1" dirty="0"/>
              <a:t>bio</a:t>
            </a:r>
            <a:r>
              <a:rPr lang="fr-CA" sz="1800" dirty="0"/>
              <a:t> et un cours de </a:t>
            </a:r>
            <a:r>
              <a:rPr lang="fr-CA" sz="1800" b="1" dirty="0"/>
              <a:t>chimie</a:t>
            </a:r>
          </a:p>
          <a:p>
            <a:r>
              <a:rPr lang="fr-CA" sz="2000" dirty="0"/>
              <a:t>Ce diplôme en </a:t>
            </a:r>
            <a:r>
              <a:rPr lang="fr-CA" sz="2000" b="1" dirty="0"/>
              <a:t>génie logiciel </a:t>
            </a:r>
            <a:r>
              <a:rPr lang="fr-CA" sz="2000" dirty="0"/>
              <a:t>mènera à des emplois comme</a:t>
            </a:r>
          </a:p>
          <a:p>
            <a:pPr lvl="1"/>
            <a:r>
              <a:rPr lang="fr-CA" sz="1800" dirty="0"/>
              <a:t>Analyste-programmeur</a:t>
            </a:r>
          </a:p>
          <a:p>
            <a:pPr lvl="1"/>
            <a:r>
              <a:rPr lang="fr-CA" sz="1800" dirty="0"/>
              <a:t>architecte fonctionnel et organique (concepteur d’architecture)</a:t>
            </a:r>
          </a:p>
          <a:p>
            <a:pPr lvl="1"/>
            <a:r>
              <a:rPr lang="fr-CA" sz="1800" dirty="0"/>
              <a:t>responsable de l'assurance-qualité</a:t>
            </a:r>
          </a:p>
          <a:p>
            <a:pPr lvl="1"/>
            <a:r>
              <a:rPr lang="fr-CA" sz="1800" dirty="0"/>
              <a:t>gestionnaire de projet</a:t>
            </a:r>
          </a:p>
          <a:p>
            <a:r>
              <a:rPr lang="fr-CA" sz="2000" dirty="0">
                <a:hlinkClick r:id="rId2"/>
              </a:rPr>
              <a:t>macarrieretechno.com</a:t>
            </a:r>
            <a:r>
              <a:rPr lang="fr-CA" sz="2000" dirty="0"/>
              <a:t> : </a:t>
            </a:r>
            <a:r>
              <a:rPr lang="fr-CA" sz="2000" dirty="0" err="1"/>
              <a:t>Bacc</a:t>
            </a:r>
            <a:r>
              <a:rPr lang="fr-CA" sz="2000" dirty="0"/>
              <a:t>. en génie logiciel partout</a:t>
            </a:r>
          </a:p>
          <a:p>
            <a:r>
              <a:rPr lang="fr-CA" sz="2000" dirty="0">
                <a:hlinkClick r:id="rId3"/>
              </a:rPr>
              <a:t>Université Laval</a:t>
            </a:r>
            <a:r>
              <a:rPr lang="fr-CA" sz="2000" dirty="0"/>
              <a:t>, </a:t>
            </a:r>
            <a:r>
              <a:rPr lang="fr-CA" sz="2000" dirty="0">
                <a:hlinkClick r:id="rId4"/>
              </a:rPr>
              <a:t>Faculté des Sc. Et génie</a:t>
            </a:r>
            <a:r>
              <a:rPr lang="fr-CA" sz="2000" dirty="0"/>
              <a:t> : </a:t>
            </a:r>
            <a:r>
              <a:rPr lang="fr-CA" sz="2000" dirty="0" err="1"/>
              <a:t>Bacc</a:t>
            </a:r>
            <a:r>
              <a:rPr lang="fr-CA" sz="2000" dirty="0"/>
              <a:t>. en génie logiciel </a:t>
            </a:r>
            <a:r>
              <a:rPr lang="fr-CA" sz="2000" dirty="0" err="1"/>
              <a:t>ULaval</a:t>
            </a:r>
            <a:endParaRPr lang="fr-CA" sz="20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5"/>
          <a:srcRect r="12259"/>
          <a:stretch/>
        </p:blipFill>
        <p:spPr>
          <a:xfrm>
            <a:off x="7308304" y="0"/>
            <a:ext cx="1800200" cy="127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97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Maîtrise et Doctorat </a:t>
            </a:r>
            <a:br>
              <a:rPr lang="fr-CA" dirty="0"/>
            </a:br>
            <a:r>
              <a:rPr lang="fr-CA" dirty="0"/>
              <a:t>en informatique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5213176"/>
          </a:xfrm>
        </p:spPr>
        <p:txBody>
          <a:bodyPr>
            <a:normAutofit lnSpcReduction="10000"/>
          </a:bodyPr>
          <a:lstStyle/>
          <a:p>
            <a:r>
              <a:rPr lang="fr-CA" sz="2100" dirty="0"/>
              <a:t>Les programmes de 2</a:t>
            </a:r>
            <a:r>
              <a:rPr lang="fr-CA" sz="2100" baseline="30000" dirty="0"/>
              <a:t>e</a:t>
            </a:r>
            <a:r>
              <a:rPr lang="fr-CA" sz="2100" dirty="0"/>
              <a:t> et de 3</a:t>
            </a:r>
            <a:r>
              <a:rPr lang="fr-CA" sz="2100" baseline="30000" dirty="0"/>
              <a:t>e</a:t>
            </a:r>
            <a:r>
              <a:rPr lang="fr-CA" sz="2100" dirty="0"/>
              <a:t> cycle ont pour objectif de préparer l’étudiant à aborder une </a:t>
            </a:r>
            <a:r>
              <a:rPr lang="fr-CA" sz="2100" b="1" dirty="0"/>
              <a:t>spécialité</a:t>
            </a:r>
            <a:r>
              <a:rPr lang="fr-CA" sz="2100" dirty="0"/>
              <a:t> avec l’esprit critique nécessaire à la compréhension exacte et à l’éclosion d’idées nouvelles; il maîtrisera une méthode de </a:t>
            </a:r>
            <a:r>
              <a:rPr lang="fr-CA" sz="2100" b="1" dirty="0"/>
              <a:t>recherche</a:t>
            </a:r>
          </a:p>
          <a:p>
            <a:pPr lvl="1"/>
            <a:r>
              <a:rPr lang="fr-CA" sz="1900" dirty="0"/>
              <a:t>Il existe plusieurs </a:t>
            </a:r>
            <a:r>
              <a:rPr lang="fr-CA" sz="1900" dirty="0">
                <a:hlinkClick r:id="rId2"/>
              </a:rPr>
              <a:t>groupes de recherche </a:t>
            </a:r>
            <a:r>
              <a:rPr lang="fr-CA" sz="1900" dirty="0"/>
              <a:t>dans des domaines variés comme</a:t>
            </a:r>
          </a:p>
          <a:p>
            <a:pPr lvl="2"/>
            <a:r>
              <a:rPr lang="fr-CA" sz="1800" dirty="0"/>
              <a:t>prévention et détection d'intrusions informatiques et de code malicieux,</a:t>
            </a:r>
          </a:p>
          <a:p>
            <a:pPr lvl="2"/>
            <a:r>
              <a:rPr lang="fr-CA" sz="1800" dirty="0"/>
              <a:t>sécurité informatique, compression de données, données massives/</a:t>
            </a:r>
            <a:r>
              <a:rPr lang="fr-CA" sz="1800" dirty="0" err="1"/>
              <a:t>big</a:t>
            </a:r>
            <a:r>
              <a:rPr lang="fr-CA" sz="1800" dirty="0"/>
              <a:t> data,</a:t>
            </a:r>
          </a:p>
          <a:p>
            <a:pPr lvl="2"/>
            <a:r>
              <a:rPr lang="fr-CA" sz="1800" dirty="0"/>
              <a:t>apprentissage par renforcement, réseaux mobiles, intelligence artificielle,</a:t>
            </a:r>
          </a:p>
          <a:p>
            <a:pPr lvl="2"/>
            <a:r>
              <a:rPr lang="fr-CA" sz="1800" dirty="0"/>
              <a:t>téléphonie sans fil, réseaux Wi-Fi, analyse de risques, chaines de blocs, etc.</a:t>
            </a:r>
          </a:p>
          <a:p>
            <a:r>
              <a:rPr lang="fr-CA" sz="2100" dirty="0"/>
              <a:t>Ces diplômes de 2</a:t>
            </a:r>
            <a:r>
              <a:rPr lang="fr-CA" sz="2100" baseline="30000" dirty="0"/>
              <a:t>e</a:t>
            </a:r>
            <a:r>
              <a:rPr lang="fr-CA" sz="2100" dirty="0"/>
              <a:t> et 3</a:t>
            </a:r>
            <a:r>
              <a:rPr lang="fr-CA" sz="2100" baseline="30000" dirty="0"/>
              <a:t>e</a:t>
            </a:r>
            <a:r>
              <a:rPr lang="fr-CA" sz="2100" dirty="0"/>
              <a:t> cycle permettront de</a:t>
            </a:r>
          </a:p>
          <a:p>
            <a:pPr lvl="1"/>
            <a:r>
              <a:rPr lang="fr-CA" sz="1900" dirty="0"/>
              <a:t>diriger une équipe d'analystes ou de programmeurs</a:t>
            </a:r>
          </a:p>
          <a:p>
            <a:pPr lvl="1"/>
            <a:r>
              <a:rPr lang="fr-CA" sz="1900" dirty="0"/>
              <a:t>prendre en charge des systèmes informatiques</a:t>
            </a:r>
          </a:p>
          <a:p>
            <a:pPr lvl="1"/>
            <a:r>
              <a:rPr lang="fr-CA" sz="1900" dirty="0"/>
              <a:t>élaborer des projets informatiques, etc.</a:t>
            </a:r>
          </a:p>
          <a:p>
            <a:r>
              <a:rPr lang="fr-CA" sz="2100" dirty="0">
                <a:hlinkClick r:id="rId3"/>
              </a:rPr>
              <a:t>macarrieretechno.com</a:t>
            </a:r>
            <a:r>
              <a:rPr lang="fr-CA" sz="2100" dirty="0"/>
              <a:t> : Maîtrise en informatique partout</a:t>
            </a:r>
          </a:p>
          <a:p>
            <a:r>
              <a:rPr lang="fr-CA" sz="2100" dirty="0">
                <a:hlinkClick r:id="rId4"/>
              </a:rPr>
              <a:t>Université Laval</a:t>
            </a:r>
            <a:r>
              <a:rPr lang="fr-CA" sz="2100" dirty="0"/>
              <a:t>, </a:t>
            </a:r>
            <a:r>
              <a:rPr lang="fr-CA" sz="2100" dirty="0">
                <a:hlinkClick r:id="rId5"/>
              </a:rPr>
              <a:t>Faculté des Sc. Et génie</a:t>
            </a:r>
            <a:r>
              <a:rPr lang="fr-CA" sz="2100" dirty="0"/>
              <a:t> : Maîtrise en informatique </a:t>
            </a:r>
            <a:r>
              <a:rPr lang="fr-CA" sz="2100" dirty="0" err="1"/>
              <a:t>ULaval</a:t>
            </a:r>
            <a:endParaRPr lang="fr-CA" sz="21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6"/>
          <a:srcRect r="12259"/>
          <a:stretch/>
        </p:blipFill>
        <p:spPr>
          <a:xfrm>
            <a:off x="7308304" y="0"/>
            <a:ext cx="1800200" cy="127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226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Formation autonome en</a:t>
            </a:r>
            <a:br>
              <a:rPr lang="fr-CA" dirty="0"/>
            </a:br>
            <a:r>
              <a:rPr lang="fr-CA" dirty="0"/>
              <a:t>informatique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5213176"/>
          </a:xfrm>
        </p:spPr>
        <p:txBody>
          <a:bodyPr>
            <a:normAutofit/>
          </a:bodyPr>
          <a:lstStyle/>
          <a:p>
            <a:r>
              <a:rPr lang="fr-CA" sz="2200" dirty="0"/>
              <a:t>En informatique, tout change vite!</a:t>
            </a:r>
          </a:p>
          <a:p>
            <a:r>
              <a:rPr lang="fr-CA" sz="2200" dirty="0"/>
              <a:t>On doit toujours se tenir à jour sur les nouvelles technologies, les nouveaux langages de programmation, les nouveaux environnements </a:t>
            </a:r>
            <a:br>
              <a:rPr lang="fr-CA" sz="2200" dirty="0"/>
            </a:br>
            <a:r>
              <a:rPr lang="fr-CA" sz="2200" dirty="0"/>
              <a:t>de développement, etc.</a:t>
            </a:r>
          </a:p>
          <a:p>
            <a:pPr lvl="1"/>
            <a:r>
              <a:rPr lang="fr-CA" sz="1900" dirty="0"/>
              <a:t>Il existe des plateformes de </a:t>
            </a:r>
            <a:r>
              <a:rPr lang="fr-CA" sz="1900" b="1" dirty="0"/>
              <a:t>formation en ligne </a:t>
            </a:r>
            <a:r>
              <a:rPr lang="fr-CA" sz="1900" dirty="0"/>
              <a:t>qui proposent une variété de cours, de formations vidéo; certaines sont spécialisées pour les développeurs de logiciels et les administrateurs informatiques</a:t>
            </a:r>
          </a:p>
          <a:p>
            <a:r>
              <a:rPr lang="fr-CA" sz="2200" dirty="0">
                <a:hlinkClick r:id="rId2"/>
              </a:rPr>
              <a:t>Pluralsight</a:t>
            </a:r>
            <a:r>
              <a:rPr lang="fr-CA" sz="2200" dirty="0"/>
              <a:t>: spécialisée en informatique (anglais)</a:t>
            </a:r>
          </a:p>
          <a:p>
            <a:pPr lvl="1"/>
            <a:r>
              <a:rPr lang="fr-CA" sz="1900" dirty="0"/>
              <a:t>Permet d’apprendre des langages comme JavaScript, </a:t>
            </a:r>
            <a:r>
              <a:rPr lang="fr-CA" sz="1900" dirty="0" err="1"/>
              <a:t>Angular</a:t>
            </a:r>
            <a:r>
              <a:rPr lang="fr-CA" sz="1900" dirty="0"/>
              <a:t>, C#, Python, etc.</a:t>
            </a:r>
          </a:p>
          <a:p>
            <a:pPr lvl="1"/>
            <a:r>
              <a:rPr lang="fr-CA" sz="1900" dirty="0"/>
              <a:t>Nécessite un abonnement (mais offre un mois gratuit)</a:t>
            </a:r>
          </a:p>
          <a:p>
            <a:r>
              <a:rPr lang="fr-CA" sz="2200" dirty="0" err="1">
                <a:hlinkClick r:id="rId3"/>
              </a:rPr>
              <a:t>Udemy</a:t>
            </a:r>
            <a:r>
              <a:rPr lang="fr-CA" sz="2200" dirty="0"/>
              <a:t>: formations variées dans plusieurs domaines (français)</a:t>
            </a:r>
          </a:p>
          <a:p>
            <a:pPr lvl="1"/>
            <a:r>
              <a:rPr lang="fr-CA" sz="1900" dirty="0"/>
              <a:t>Formations payantes comme Développement Web ou pour Appareils Mobiles </a:t>
            </a:r>
          </a:p>
          <a:p>
            <a:r>
              <a:rPr lang="fr-CA" sz="2200" dirty="0">
                <a:hlinkClick r:id="rId4"/>
              </a:rPr>
              <a:t>Codecademy</a:t>
            </a:r>
            <a:r>
              <a:rPr lang="fr-CA" sz="2200" dirty="0"/>
              <a:t>: spécialisée en informatique (anglais)</a:t>
            </a:r>
          </a:p>
          <a:p>
            <a:pPr lvl="1"/>
            <a:r>
              <a:rPr lang="fr-CA" sz="1900" dirty="0"/>
              <a:t>permet d'apprendre gratuitement des langages de programmation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5"/>
          <a:srcRect r="12259"/>
          <a:stretch/>
        </p:blipFill>
        <p:spPr>
          <a:xfrm>
            <a:off x="7308304" y="0"/>
            <a:ext cx="1800200" cy="1278713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6216" y="3933056"/>
            <a:ext cx="2520280" cy="579664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7318" y="5105860"/>
            <a:ext cx="1079178" cy="593191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9417" y="6028771"/>
            <a:ext cx="1787079" cy="435115"/>
          </a:xfrm>
          <a:prstGeom prst="rect">
            <a:avLst/>
          </a:prstGeom>
          <a:ln>
            <a:solidFill>
              <a:srgbClr val="92D050"/>
            </a:solidFill>
          </a:ln>
        </p:spPr>
      </p:pic>
    </p:spTree>
    <p:extLst>
      <p:ext uri="{BB962C8B-B14F-4D97-AF65-F5344CB8AC3E}">
        <p14:creationId xmlns:p14="http://schemas.microsoft.com/office/powerpoint/2010/main" val="2454424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DC2D53-EF59-4778-B50C-15C42ECC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Autres sources de formation/information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20536EA-DACB-45C2-8FFC-D2E9ED110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420-06A-FX N. Richard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95A6AB-AFB2-4A54-A44F-EAB9E0CF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F4668DC-857F-487D-BFFA-8C0CA5037977}" type="slidenum">
              <a:rPr lang="fr-BE" smtClean="0"/>
              <a:pPr/>
              <a:t>14</a:t>
            </a:fld>
            <a:endParaRPr lang="fr-BE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ADFF313-7B20-4BA1-9390-0B0F7E51563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/>
              <a:t>YouTube</a:t>
            </a:r>
          </a:p>
          <a:p>
            <a:r>
              <a:rPr lang="fr-CA" dirty="0" err="1"/>
              <a:t>Stackoverflow</a:t>
            </a:r>
            <a:r>
              <a:rPr lang="fr-CA" dirty="0"/>
              <a:t> (non structuré)</a:t>
            </a:r>
          </a:p>
          <a:p>
            <a:r>
              <a:rPr lang="fr-CA" dirty="0"/>
              <a:t>Livres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50763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Catégories d’entreprises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5257800"/>
          </a:xfrm>
        </p:spPr>
        <p:txBody>
          <a:bodyPr>
            <a:normAutofit fontScale="92500" lnSpcReduction="10000"/>
          </a:bodyPr>
          <a:lstStyle/>
          <a:p>
            <a:r>
              <a:rPr lang="fr-CA" sz="2400" dirty="0"/>
              <a:t>On peut classer les entreprises québécoises dans 3 grandes catégories </a:t>
            </a:r>
          </a:p>
          <a:p>
            <a:pPr lvl="1"/>
            <a:r>
              <a:rPr lang="fr-CA" sz="2200" b="1" dirty="0"/>
              <a:t>À but lucratif</a:t>
            </a:r>
            <a:r>
              <a:rPr lang="fr-CA" sz="2200" dirty="0"/>
              <a:t>: entreprises ou organismes dont l'objectif principal est la réalisation de </a:t>
            </a:r>
            <a:r>
              <a:rPr lang="fr-CA" sz="2200" b="1" dirty="0"/>
              <a:t>profits</a:t>
            </a:r>
          </a:p>
          <a:p>
            <a:pPr lvl="2"/>
            <a:r>
              <a:rPr lang="fr-CA" sz="1900" dirty="0"/>
              <a:t>On parle alors d’entreprises privées</a:t>
            </a:r>
          </a:p>
          <a:p>
            <a:pPr lvl="2"/>
            <a:r>
              <a:rPr lang="fr-CA" sz="1900" dirty="0"/>
              <a:t>Exemples: </a:t>
            </a:r>
            <a:r>
              <a:rPr lang="fr-CA" sz="1900" dirty="0">
                <a:hlinkClick r:id="rId2"/>
              </a:rPr>
              <a:t>Beenox</a:t>
            </a:r>
            <a:r>
              <a:rPr lang="fr-CA" sz="1900" dirty="0"/>
              <a:t>, </a:t>
            </a:r>
            <a:r>
              <a:rPr lang="fr-CA" sz="1900" dirty="0">
                <a:hlinkClick r:id="rId3"/>
              </a:rPr>
              <a:t>CGI</a:t>
            </a:r>
            <a:r>
              <a:rPr lang="fr-CA" sz="1900" dirty="0"/>
              <a:t>, </a:t>
            </a:r>
            <a:r>
              <a:rPr lang="fr-CA" sz="1900" dirty="0">
                <a:hlinkClick r:id="rId4"/>
              </a:rPr>
              <a:t>Libeo</a:t>
            </a:r>
            <a:r>
              <a:rPr lang="fr-CA" sz="1900" dirty="0"/>
              <a:t>, </a:t>
            </a:r>
            <a:r>
              <a:rPr lang="fr-CA" sz="1900" dirty="0">
                <a:hlinkClick r:id="rId5"/>
              </a:rPr>
              <a:t>Mirego</a:t>
            </a:r>
            <a:r>
              <a:rPr lang="fr-CA" sz="1900" dirty="0"/>
              <a:t>, </a:t>
            </a:r>
            <a:r>
              <a:rPr lang="fr-CA" sz="1900" dirty="0">
                <a:hlinkClick r:id="rId6"/>
              </a:rPr>
              <a:t>Simons</a:t>
            </a:r>
            <a:r>
              <a:rPr lang="fr-CA" sz="1900" dirty="0"/>
              <a:t>, </a:t>
            </a:r>
            <a:r>
              <a:rPr lang="fr-CA" sz="1900" dirty="0">
                <a:hlinkClick r:id="rId7"/>
              </a:rPr>
              <a:t>LaTulippe</a:t>
            </a:r>
            <a:r>
              <a:rPr lang="fr-CA" sz="1900" dirty="0"/>
              <a:t>, </a:t>
            </a:r>
            <a:r>
              <a:rPr lang="fr-CA" sz="1900" dirty="0">
                <a:hlinkClick r:id="rId8"/>
              </a:rPr>
              <a:t>Le Cochon Dingue</a:t>
            </a:r>
            <a:r>
              <a:rPr lang="fr-CA" sz="1900" dirty="0"/>
              <a:t>, </a:t>
            </a:r>
            <a:br>
              <a:rPr lang="fr-CA" sz="1900" dirty="0"/>
            </a:br>
            <a:r>
              <a:rPr lang="fr-CA" sz="1900" dirty="0">
                <a:hlinkClick r:id="rId9"/>
              </a:rPr>
              <a:t>La Capitale Assurance</a:t>
            </a:r>
            <a:r>
              <a:rPr lang="fr-CA" sz="1900" dirty="0"/>
              <a:t>, etc.</a:t>
            </a:r>
          </a:p>
          <a:p>
            <a:pPr lvl="1"/>
            <a:r>
              <a:rPr lang="fr-CA" sz="2200" b="1" dirty="0"/>
              <a:t>À but non lucratif</a:t>
            </a:r>
            <a:r>
              <a:rPr lang="fr-CA" sz="2200" dirty="0"/>
              <a:t>: association, société ou club qui veille au bien-être de </a:t>
            </a:r>
            <a:br>
              <a:rPr lang="fr-CA" sz="2200" dirty="0"/>
            </a:br>
            <a:r>
              <a:rPr lang="fr-CA" sz="2200" dirty="0"/>
              <a:t>sa communauté, à l’amélioration d’infrastructures locales, des loisirs ou du divertissement, qui n’en retire </a:t>
            </a:r>
            <a:r>
              <a:rPr lang="fr-CA" sz="2200" b="1" dirty="0"/>
              <a:t>aucun bénéfice financier</a:t>
            </a:r>
          </a:p>
          <a:p>
            <a:pPr lvl="2"/>
            <a:r>
              <a:rPr lang="fr-CA" sz="1900" dirty="0"/>
              <a:t>Exemples: </a:t>
            </a:r>
            <a:r>
              <a:rPr lang="fr-CA" sz="1900" dirty="0">
                <a:hlinkClick r:id="rId10"/>
              </a:rPr>
              <a:t>FEQ</a:t>
            </a:r>
            <a:r>
              <a:rPr lang="fr-CA" sz="1900" dirty="0"/>
              <a:t>, </a:t>
            </a:r>
            <a:r>
              <a:rPr lang="fr-CA" sz="1900" dirty="0">
                <a:hlinkClick r:id="rId11"/>
              </a:rPr>
              <a:t>Québec Numérique</a:t>
            </a:r>
            <a:r>
              <a:rPr lang="fr-CA" sz="1900" dirty="0"/>
              <a:t>, </a:t>
            </a:r>
            <a:r>
              <a:rPr lang="fr-CA" sz="1900" dirty="0">
                <a:hlinkClick r:id="rId12"/>
              </a:rPr>
              <a:t>La Ruche</a:t>
            </a:r>
            <a:r>
              <a:rPr lang="fr-CA" sz="1900" dirty="0"/>
              <a:t>, </a:t>
            </a:r>
            <a:r>
              <a:rPr lang="fr-CA" sz="1900" dirty="0">
                <a:hlinkClick r:id="rId13"/>
              </a:rPr>
              <a:t>Centraide</a:t>
            </a:r>
            <a:r>
              <a:rPr lang="fr-CA" sz="1900" dirty="0"/>
              <a:t>, </a:t>
            </a:r>
            <a:r>
              <a:rPr lang="fr-CA" sz="1900" dirty="0">
                <a:hlinkClick r:id="rId14"/>
              </a:rPr>
              <a:t>Fondation du CHU de Québec</a:t>
            </a:r>
            <a:r>
              <a:rPr lang="fr-CA" sz="1900" dirty="0"/>
              <a:t>, etc.</a:t>
            </a:r>
          </a:p>
          <a:p>
            <a:pPr lvl="1"/>
            <a:r>
              <a:rPr lang="fr-CA" sz="2200" b="1" dirty="0"/>
              <a:t>Publique et parapublique</a:t>
            </a:r>
            <a:r>
              <a:rPr lang="fr-CA" sz="2200" dirty="0"/>
              <a:t>: organisme dont la majorité des dirigeants et administrateurs sont nommés par le gouvernement et qui bénéficie d'une certaine autonomie, même si la majorité de son financement provient de l'État </a:t>
            </a:r>
          </a:p>
          <a:p>
            <a:pPr lvl="2"/>
            <a:r>
              <a:rPr lang="fr-CA" sz="1900" dirty="0"/>
              <a:t>Exemples: </a:t>
            </a:r>
            <a:r>
              <a:rPr lang="fr-CA" sz="1900" dirty="0">
                <a:hlinkClick r:id="rId15"/>
              </a:rPr>
              <a:t>Revenu Québec</a:t>
            </a:r>
            <a:r>
              <a:rPr lang="fr-CA" sz="1900" dirty="0"/>
              <a:t>, </a:t>
            </a:r>
            <a:r>
              <a:rPr lang="fr-CA" sz="1900" dirty="0">
                <a:hlinkClick r:id="rId16"/>
              </a:rPr>
              <a:t>SAQ</a:t>
            </a:r>
            <a:r>
              <a:rPr lang="fr-CA" sz="1900" dirty="0"/>
              <a:t>, </a:t>
            </a:r>
            <a:r>
              <a:rPr lang="fr-CA" sz="1900" dirty="0">
                <a:hlinkClick r:id="rId17"/>
              </a:rPr>
              <a:t>RAMQ</a:t>
            </a:r>
            <a:r>
              <a:rPr lang="fr-CA" sz="1900" dirty="0"/>
              <a:t>, </a:t>
            </a:r>
            <a:r>
              <a:rPr lang="fr-CA" sz="1900" dirty="0">
                <a:hlinkClick r:id="rId18"/>
              </a:rPr>
              <a:t>ministère de l’Éducation</a:t>
            </a:r>
            <a:r>
              <a:rPr lang="fr-CA" sz="1900" dirty="0"/>
              <a:t>, </a:t>
            </a:r>
            <a:r>
              <a:rPr lang="fr-CA" sz="1900" dirty="0">
                <a:hlinkClick r:id="rId19"/>
              </a:rPr>
              <a:t>Assemblée nationale</a:t>
            </a:r>
            <a:r>
              <a:rPr lang="fr-CA" sz="1900" dirty="0"/>
              <a:t>, etc.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44208" y="144016"/>
            <a:ext cx="2634364" cy="98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553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Répertoires d’entreprises en informatique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5257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lang="fr-CA" sz="2100" dirty="0"/>
              <a:t>La majorité des entreprises emploient des professionnels en informatique, par exemple pour gérer ou développer des sites/applications Web, des bases de données ou des applications maison qui automatisent certaines tâches, etc.</a:t>
            </a:r>
          </a:p>
          <a:p>
            <a:pPr lvl="1"/>
            <a:r>
              <a:rPr lang="fr-CA" sz="1800" dirty="0"/>
              <a:t>Ces entreprises œuvrent dans divers secteurs d’activité comme</a:t>
            </a:r>
          </a:p>
          <a:p>
            <a:pPr lvl="2"/>
            <a:r>
              <a:rPr lang="fr-CA" sz="1700" dirty="0"/>
              <a:t>Commerce de détail</a:t>
            </a:r>
          </a:p>
          <a:p>
            <a:pPr lvl="2"/>
            <a:r>
              <a:rPr lang="fr-CA" sz="1700" dirty="0"/>
              <a:t>Génie-conseil</a:t>
            </a:r>
          </a:p>
          <a:p>
            <a:pPr lvl="2"/>
            <a:r>
              <a:rPr lang="fr-CA" sz="1700" dirty="0"/>
              <a:t>Jeux vidéo</a:t>
            </a:r>
          </a:p>
          <a:p>
            <a:pPr lvl="2"/>
            <a:r>
              <a:rPr lang="fr-CA" sz="1700" dirty="0"/>
              <a:t>Santé</a:t>
            </a:r>
          </a:p>
          <a:p>
            <a:pPr lvl="2"/>
            <a:r>
              <a:rPr lang="fr-CA" sz="1700" dirty="0"/>
              <a:t>Sécurité</a:t>
            </a:r>
          </a:p>
          <a:p>
            <a:pPr lvl="2"/>
            <a:r>
              <a:rPr lang="fr-CA" sz="1700" dirty="0"/>
              <a:t>Services financiers</a:t>
            </a:r>
          </a:p>
          <a:p>
            <a:r>
              <a:rPr lang="fr-CA" sz="2100" dirty="0"/>
              <a:t>Voici quelques </a:t>
            </a:r>
            <a:r>
              <a:rPr lang="fr-CA" sz="2100" b="1" dirty="0"/>
              <a:t>répertoires d’entreprises </a:t>
            </a:r>
            <a:r>
              <a:rPr lang="fr-CA" sz="2100" dirty="0"/>
              <a:t>embauchant des informaticiens</a:t>
            </a:r>
          </a:p>
          <a:p>
            <a:pPr lvl="1"/>
            <a:r>
              <a:rPr lang="fr-CA" sz="1800" dirty="0">
                <a:hlinkClick r:id="rId2"/>
              </a:rPr>
              <a:t>Macarrieretechno.com</a:t>
            </a:r>
            <a:r>
              <a:rPr lang="fr-CA" sz="1800" dirty="0"/>
              <a:t>: entreprises en techno</a:t>
            </a:r>
          </a:p>
          <a:p>
            <a:pPr lvl="1"/>
            <a:r>
              <a:rPr lang="fr-CA" sz="1800" dirty="0">
                <a:hlinkClick r:id="rId3"/>
              </a:rPr>
              <a:t>Agencewebduquebec.com</a:t>
            </a:r>
            <a:r>
              <a:rPr lang="fr-CA" sz="1800" dirty="0"/>
              <a:t>: liste des entreprises du Web</a:t>
            </a:r>
          </a:p>
          <a:p>
            <a:pPr lvl="1"/>
            <a:r>
              <a:rPr lang="fr-CA" sz="1800" dirty="0">
                <a:hlinkClick r:id="rId4"/>
              </a:rPr>
              <a:t>Pagesjaunes.ca</a:t>
            </a:r>
            <a:r>
              <a:rPr lang="fr-CA" sz="1800" dirty="0"/>
              <a:t>: Entreprises Informatique, communications et électronique à Québec</a:t>
            </a:r>
          </a:p>
        </p:txBody>
      </p:sp>
      <p:pic>
        <p:nvPicPr>
          <p:cNvPr id="2050" name="Picture 2" descr="Un fournisseur informatique se recherche grâce à 10 éléments bien simples chez Soumissions Entreprises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376" y="123824"/>
            <a:ext cx="2544300" cy="114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8104" y="5631651"/>
            <a:ext cx="1152128" cy="396274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0232" y="6021288"/>
            <a:ext cx="2353444" cy="408815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4211960" y="3356992"/>
            <a:ext cx="2376264" cy="1728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A" dirty="0"/>
          </a:p>
        </p:txBody>
      </p:sp>
      <p:sp>
        <p:nvSpPr>
          <p:cNvPr id="11" name="ZoneTexte 10"/>
          <p:cNvSpPr txBox="1"/>
          <p:nvPr/>
        </p:nvSpPr>
        <p:spPr>
          <a:xfrm>
            <a:off x="3635896" y="3284984"/>
            <a:ext cx="3816424" cy="2259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indent="-228600">
              <a:spcBef>
                <a:spcPts val="500"/>
              </a:spcBef>
              <a:buClr>
                <a:srgbClr val="8AB833"/>
              </a:buClr>
              <a:buSzPct val="75000"/>
              <a:buFont typeface="Wingdings"/>
              <a:buChar char=""/>
            </a:pPr>
            <a:r>
              <a:rPr lang="fr-CA" sz="1700" dirty="0">
                <a:solidFill>
                  <a:prstClr val="black"/>
                </a:solidFill>
              </a:rPr>
              <a:t>Technologies de l’information</a:t>
            </a:r>
          </a:p>
          <a:p>
            <a:pPr lvl="2" indent="-228600">
              <a:spcBef>
                <a:spcPts val="500"/>
              </a:spcBef>
              <a:buClr>
                <a:srgbClr val="8AB833"/>
              </a:buClr>
              <a:buSzPct val="75000"/>
              <a:buFont typeface="Wingdings"/>
              <a:buChar char=""/>
            </a:pPr>
            <a:r>
              <a:rPr lang="fr-CA" sz="1700" dirty="0">
                <a:solidFill>
                  <a:prstClr val="black"/>
                </a:solidFill>
              </a:rPr>
              <a:t>Géomatique </a:t>
            </a:r>
          </a:p>
          <a:p>
            <a:pPr lvl="2" indent="-228600">
              <a:spcBef>
                <a:spcPts val="500"/>
              </a:spcBef>
              <a:buClr>
                <a:srgbClr val="8AB833"/>
              </a:buClr>
              <a:buSzPct val="75000"/>
              <a:buFont typeface="Wingdings"/>
              <a:buChar char=""/>
            </a:pPr>
            <a:r>
              <a:rPr lang="fr-CA" sz="1700" dirty="0">
                <a:solidFill>
                  <a:prstClr val="black"/>
                </a:solidFill>
              </a:rPr>
              <a:t>Communications</a:t>
            </a:r>
          </a:p>
          <a:p>
            <a:pPr lvl="2" indent="-228600">
              <a:spcBef>
                <a:spcPts val="500"/>
              </a:spcBef>
              <a:buClr>
                <a:srgbClr val="8AB833"/>
              </a:buClr>
              <a:buSzPct val="75000"/>
              <a:buFont typeface="Wingdings"/>
              <a:buChar char=""/>
            </a:pPr>
            <a:r>
              <a:rPr lang="fr-CA" sz="1700" dirty="0">
                <a:solidFill>
                  <a:prstClr val="black"/>
                </a:solidFill>
              </a:rPr>
              <a:t>Télécommunications</a:t>
            </a:r>
          </a:p>
          <a:p>
            <a:pPr lvl="2" indent="-228600">
              <a:spcBef>
                <a:spcPts val="500"/>
              </a:spcBef>
              <a:buClr>
                <a:srgbClr val="8AB833"/>
              </a:buClr>
              <a:buSzPct val="75000"/>
              <a:buFont typeface="Wingdings"/>
              <a:buChar char=""/>
            </a:pPr>
            <a:r>
              <a:rPr lang="fr-CA" sz="1700" dirty="0">
                <a:solidFill>
                  <a:prstClr val="black"/>
                </a:solidFill>
              </a:rPr>
              <a:t>Jeux vidéo</a:t>
            </a:r>
          </a:p>
          <a:p>
            <a:pPr lvl="2" indent="-228600">
              <a:spcBef>
                <a:spcPts val="500"/>
              </a:spcBef>
              <a:buClr>
                <a:srgbClr val="8AB833"/>
              </a:buClr>
              <a:buSzPct val="75000"/>
              <a:buFont typeface="Wingdings"/>
              <a:buChar char=""/>
            </a:pPr>
            <a:r>
              <a:rPr lang="fr-CA" sz="1700" dirty="0">
                <a:solidFill>
                  <a:prstClr val="black"/>
                </a:solidFill>
              </a:rPr>
              <a:t>Transport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85817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Répertoires des professions </a:t>
            </a:r>
            <a:br>
              <a:rPr lang="fr-CA" dirty="0"/>
            </a:br>
            <a:r>
              <a:rPr lang="fr-CA" dirty="0"/>
              <a:t>en informatique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5257800"/>
          </a:xfrm>
        </p:spPr>
        <p:txBody>
          <a:bodyPr>
            <a:normAutofit/>
          </a:bodyPr>
          <a:lstStyle/>
          <a:p>
            <a:r>
              <a:rPr lang="fr-CA" sz="2300" dirty="0"/>
              <a:t>Le site </a:t>
            </a:r>
            <a:r>
              <a:rPr lang="fr-CA" sz="2300" dirty="0">
                <a:hlinkClick r:id="rId2"/>
              </a:rPr>
              <a:t>macarrieretech.com</a:t>
            </a:r>
            <a:r>
              <a:rPr lang="fr-CA" sz="2300" dirty="0"/>
              <a:t> classe les professions techno en 4 types</a:t>
            </a:r>
          </a:p>
          <a:p>
            <a:pPr lvl="1"/>
            <a:r>
              <a:rPr lang="fr-CA" sz="1900" b="1" dirty="0"/>
              <a:t>Décideur</a:t>
            </a:r>
            <a:r>
              <a:rPr lang="fr-CA" sz="1900" dirty="0"/>
              <a:t>: analyste d’affaires, consultant en informatique, gestionnaire de projet en TI, etc.</a:t>
            </a:r>
          </a:p>
          <a:p>
            <a:pPr lvl="1"/>
            <a:r>
              <a:rPr lang="fr-CA" sz="1900" b="1" dirty="0"/>
              <a:t>Innovateur</a:t>
            </a:r>
            <a:r>
              <a:rPr lang="fr-CA" sz="1900" dirty="0"/>
              <a:t>: concepteur de jeux, infographiste, ingénieur informaticien, spécialiste en ergonomie Web, spécialiste en sécurité informatique, etc.</a:t>
            </a:r>
          </a:p>
          <a:p>
            <a:pPr lvl="1"/>
            <a:r>
              <a:rPr lang="fr-CA" sz="1900" b="1" dirty="0"/>
              <a:t>Développeur</a:t>
            </a:r>
            <a:r>
              <a:rPr lang="fr-CA" sz="1900" dirty="0"/>
              <a:t>: administrateur de base de données, analyste en informatique, intégrateur, programmeur Web, programmeur-analyste, etc.</a:t>
            </a:r>
          </a:p>
          <a:p>
            <a:pPr lvl="1"/>
            <a:r>
              <a:rPr lang="fr-CA" sz="1900" b="1" dirty="0"/>
              <a:t>Solutionneur</a:t>
            </a:r>
            <a:r>
              <a:rPr lang="fr-CA" sz="1900" dirty="0"/>
              <a:t>: agent de soutien technique, technicien en informatique, testeur de jeux vidéo, etc.</a:t>
            </a:r>
          </a:p>
          <a:p>
            <a:r>
              <a:rPr lang="fr-CA" sz="2300" dirty="0"/>
              <a:t>Le site « emplois d’avenir » répertorie les emplois par profil</a:t>
            </a:r>
          </a:p>
          <a:p>
            <a:pPr lvl="1"/>
            <a:r>
              <a:rPr lang="fr-CA" sz="1900" dirty="0"/>
              <a:t>Le profil en lien avec des emplois en informatique est celui d’</a:t>
            </a:r>
            <a:r>
              <a:rPr lang="fr-CA" sz="1900" b="1" dirty="0">
                <a:hlinkClick r:id="rId3"/>
              </a:rPr>
              <a:t>innovateur</a:t>
            </a:r>
            <a:r>
              <a:rPr lang="fr-CA" sz="1900" dirty="0"/>
              <a:t>: analyste, consultant, concepteur et développeur Web, ingénieur et concepteur de logiciels, programmeur et développeur en médias interactifs, etc.</a:t>
            </a:r>
          </a:p>
          <a:p>
            <a:r>
              <a:rPr lang="fr-CA" sz="2200" dirty="0"/>
              <a:t>Emploi Québec fournit de l’information sur le marché </a:t>
            </a:r>
            <a:r>
              <a:rPr lang="fr-CA" sz="2200"/>
              <a:t>du travail</a:t>
            </a:r>
            <a:r>
              <a:rPr lang="fr-CA" sz="2200" dirty="0"/>
              <a:t>:</a:t>
            </a:r>
          </a:p>
          <a:p>
            <a:pPr lvl="1"/>
            <a:r>
              <a:rPr lang="fr-CA" sz="1900" dirty="0"/>
              <a:t>Dont </a:t>
            </a:r>
            <a:r>
              <a:rPr lang="fr-CA" sz="1900" dirty="0">
                <a:hlinkClick r:id="rId4"/>
              </a:rPr>
              <a:t>30 professions liées aux technologies de l'information</a:t>
            </a:r>
            <a:endParaRPr lang="fr-CA" sz="1900" dirty="0"/>
          </a:p>
        </p:txBody>
      </p:sp>
      <p:pic>
        <p:nvPicPr>
          <p:cNvPr id="6" name="Picture 2" descr="Un fournisseur informatique se recherche grâce à 10 éléments bien simples chez Soumissions Entreprises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376" y="123824"/>
            <a:ext cx="2544300" cy="114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695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Emplois en informatique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5141168"/>
          </a:xfrm>
        </p:spPr>
        <p:txBody>
          <a:bodyPr>
            <a:normAutofit/>
          </a:bodyPr>
          <a:lstStyle/>
          <a:p>
            <a:r>
              <a:rPr lang="fr-CA" sz="2300" dirty="0"/>
              <a:t>Fonction publique: </a:t>
            </a:r>
            <a:r>
              <a:rPr lang="fr-CA" sz="2300" dirty="0">
                <a:hlinkClick r:id="rId2"/>
              </a:rPr>
              <a:t>Portail carrières</a:t>
            </a:r>
            <a:r>
              <a:rPr lang="fr-CA" sz="2300" dirty="0"/>
              <a:t>, </a:t>
            </a:r>
            <a:r>
              <a:rPr lang="fr-CA" sz="2300" dirty="0">
                <a:hlinkClick r:id="rId3"/>
              </a:rPr>
              <a:t>Placement en ligne</a:t>
            </a:r>
            <a:endParaRPr lang="fr-CA" sz="2300" dirty="0"/>
          </a:p>
          <a:p>
            <a:pPr lvl="1"/>
            <a:r>
              <a:rPr lang="fr-CA" sz="2000" dirty="0"/>
              <a:t>Les technologies de l'information occupent une place prépondérante dans la fonction publique</a:t>
            </a:r>
          </a:p>
          <a:p>
            <a:pPr lvl="1"/>
            <a:r>
              <a:rPr lang="fr-CA" sz="2000" dirty="0"/>
              <a:t>Les fonctions du personnel en TI consistent à faire de la programmation de systèmes, à améliorer la qualité et l'efficacité des services aux citoyens, à optimiser les processus à l'interne, à donner des conseils sur les meilleurs moyens technologiques à utiliser ou à gérer des projets d'envergure</a:t>
            </a:r>
          </a:p>
          <a:p>
            <a:r>
              <a:rPr lang="fr-CA" sz="2300" dirty="0"/>
              <a:t>Entreprises spécialisées en informatique: </a:t>
            </a:r>
            <a:r>
              <a:rPr lang="fr-CA" sz="2300" dirty="0">
                <a:hlinkClick r:id="rId4"/>
              </a:rPr>
              <a:t>Espresso Jobs</a:t>
            </a:r>
            <a:endParaRPr lang="fr-CA" sz="2300" dirty="0"/>
          </a:p>
          <a:p>
            <a:pPr lvl="1"/>
            <a:r>
              <a:rPr lang="fr-CA" sz="2000" dirty="0"/>
              <a:t>Ce site propose des emplois répertoriés sous 6 catégories, soit communication et marketing, Web, TI, Intelligence Artificielle, Jeux Vidéo</a:t>
            </a:r>
          </a:p>
          <a:p>
            <a:r>
              <a:rPr lang="fr-CA" sz="2300" dirty="0"/>
              <a:t>La majorité des entreprises, spécialisées en technologies de l’information ou non, ont une section Carrières/Emplois sur leur site</a:t>
            </a:r>
          </a:p>
          <a:p>
            <a:pPr lvl="1"/>
            <a:r>
              <a:rPr lang="fr-CA" sz="2000" dirty="0">
                <a:hlinkClick r:id="rId5"/>
              </a:rPr>
              <a:t>Industrielle Alliance</a:t>
            </a:r>
            <a:r>
              <a:rPr lang="fr-CA" sz="2000" dirty="0"/>
              <a:t>, </a:t>
            </a:r>
            <a:r>
              <a:rPr lang="fr-CA" sz="2000" dirty="0">
                <a:hlinkClick r:id="rId6"/>
              </a:rPr>
              <a:t>CGI</a:t>
            </a:r>
            <a:r>
              <a:rPr lang="fr-CA" sz="2000" dirty="0"/>
              <a:t>, </a:t>
            </a:r>
            <a:r>
              <a:rPr lang="fr-CA" sz="2000" dirty="0">
                <a:hlinkClick r:id="rId7"/>
              </a:rPr>
              <a:t>Revenu Québec</a:t>
            </a:r>
            <a:r>
              <a:rPr lang="fr-CA" sz="2000" dirty="0"/>
              <a:t>, </a:t>
            </a:r>
            <a:r>
              <a:rPr lang="fr-CA" sz="2000" dirty="0">
                <a:hlinkClick r:id="rId8"/>
              </a:rPr>
              <a:t>Coveo</a:t>
            </a:r>
            <a:r>
              <a:rPr lang="fr-CA" sz="2000" dirty="0"/>
              <a:t>, </a:t>
            </a:r>
            <a:r>
              <a:rPr lang="fr-CA" sz="2000" dirty="0">
                <a:hlinkClick r:id="rId9"/>
              </a:rPr>
              <a:t>Dialog Insight</a:t>
            </a:r>
            <a:r>
              <a:rPr lang="fr-CA" sz="2000" dirty="0"/>
              <a:t>, </a:t>
            </a:r>
            <a:r>
              <a:rPr lang="fr-CA" sz="2000" dirty="0">
                <a:hlinkClick r:id="rId10"/>
              </a:rPr>
              <a:t>La Capitale Assurance</a:t>
            </a:r>
            <a:r>
              <a:rPr lang="fr-CA" sz="2000" dirty="0"/>
              <a:t>, </a:t>
            </a:r>
            <a:r>
              <a:rPr lang="fr-CA" sz="2000" dirty="0">
                <a:hlinkClick r:id="rId11"/>
              </a:rPr>
              <a:t>Desjardins</a:t>
            </a:r>
            <a:r>
              <a:rPr lang="fr-CA" sz="2000" dirty="0"/>
              <a:t>, </a:t>
            </a:r>
            <a:r>
              <a:rPr lang="fr-CA" sz="2000" dirty="0">
                <a:hlinkClick r:id="rId12"/>
              </a:rPr>
              <a:t>Libeo</a:t>
            </a:r>
            <a:r>
              <a:rPr lang="fr-CA" sz="2000" dirty="0"/>
              <a:t>, </a:t>
            </a:r>
            <a:r>
              <a:rPr lang="fr-CA" sz="2000" dirty="0">
                <a:hlinkClick r:id="rId13"/>
              </a:rPr>
              <a:t>Leonard Agence Web</a:t>
            </a:r>
            <a:r>
              <a:rPr lang="fr-CA" sz="2000" dirty="0"/>
              <a:t>, etc.</a:t>
            </a:r>
          </a:p>
        </p:txBody>
      </p:sp>
      <p:pic>
        <p:nvPicPr>
          <p:cNvPr id="6" name="Picture 2" descr="Un fournisseur informatique se recherche grâce à 10 éléments bien simples chez Soumissions Entreprises.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376" y="123824"/>
            <a:ext cx="2544300" cy="114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71473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édian">
  <a:themeElements>
    <a:clrScheme name="Vert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47757</TotalTime>
  <Words>1698</Words>
  <Application>Microsoft Office PowerPoint</Application>
  <PresentationFormat>On-screen Show (4:3)</PresentationFormat>
  <Paragraphs>181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Médian</vt:lpstr>
      <vt:lpstr>420-06A-FX  Milieu de l’informatique</vt:lpstr>
      <vt:lpstr>Programmes de formation</vt:lpstr>
      <vt:lpstr>Liens</vt:lpstr>
      <vt:lpstr>Aucune formation?</vt:lpstr>
      <vt:lpstr>DEP - Soutien informatique</vt:lpstr>
      <vt:lpstr>Cas réel</vt:lpstr>
      <vt:lpstr>DEC - Techniques de l’informatique</vt:lpstr>
      <vt:lpstr>DEC - Cas réel</vt:lpstr>
      <vt:lpstr>DEC – Cas réel 2</vt:lpstr>
      <vt:lpstr>Baccalauréat en informatique</vt:lpstr>
      <vt:lpstr>Baccalauréat en génie logiciel  et génie informatique</vt:lpstr>
      <vt:lpstr>Maîtrise et Doctorat  en informatique</vt:lpstr>
      <vt:lpstr>Formation autonome en informatique</vt:lpstr>
      <vt:lpstr>Autres sources de formation/information</vt:lpstr>
      <vt:lpstr>Catégories d’entreprises</vt:lpstr>
      <vt:lpstr>Répertoires d’entreprises en informatique</vt:lpstr>
      <vt:lpstr>Répertoires des professions  en informatique</vt:lpstr>
      <vt:lpstr>Emplois en informatique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420-06A-FX  Milieu de l’informatique</dc:title>
  <dc:creator>Stéphane Lapointe</dc:creator>
  <cp:lastModifiedBy>Christopher Coulombe</cp:lastModifiedBy>
  <cp:revision>1074</cp:revision>
  <cp:lastPrinted>2016-08-19T13:39:24Z</cp:lastPrinted>
  <dcterms:created xsi:type="dcterms:W3CDTF">2012-09-04T15:29:37Z</dcterms:created>
  <dcterms:modified xsi:type="dcterms:W3CDTF">2025-03-31T18:42:00Z</dcterms:modified>
</cp:coreProperties>
</file>